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C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46"/>
    <p:restoredTop sz="94588"/>
  </p:normalViewPr>
  <p:slideViewPr>
    <p:cSldViewPr snapToGrid="0">
      <p:cViewPr varScale="1">
        <p:scale>
          <a:sx n="84" d="100"/>
          <a:sy n="84" d="100"/>
        </p:scale>
        <p:origin x="216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this presentation explains why the team built a second implementation, what changed, what stayed the same, and how we validated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with the stakeholder analysis from the initial architecture workshop. Establish that the architecture is a response to business needs, regulatory obligations, and ecosystem integration, not a technology-first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next slides are not disconnected technologies. Business functions create candidate boundaries; constraints shape the choices; the architecture is implemented first as a modular monolith and later evolved toward microservices.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instructor's intent is comparison: preserve the functional objective while evaluating a different implementation and delivery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original high-level diagram unchanged in meaning. It describes the wider target context, not the complete set of modules currently implemented in the Spring Boot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are not claiming Jakarta EE is obsolete. Spring Boot was selected for this project because it reduces the distance between source code, local runtime, automated validation, 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this as an operating-model comparison. The project keeps the same domain, database, and production compatibility while making local development more application-owned.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still a modular monolith. The implementation does not claim microservices. The boundaries preserve strong consistency now and leave an extraction path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Tie each group to actual code: BigDecimal in financial values, DTOs at REST boundaries, validation annotations, RestControllerAdvice, JpaRepository, Flyway, and focused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the migration history and explain the separation of responsibilities: Flyway owns schema evolution, Hibernate runs in validate mode to catch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artifact remains shared. Runtime choice changes, not the business behavior. This avoids an all-or-nothing infrastructure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validation story spans code, application, runtime, and delivery. The screenshots support the explanation but the pipeline remains the source of repeatability.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as supporting evidence while explaining the architecture. Each image has a caption so the audience understands the artifact without reading terminal details.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returning to the decision: Spring Boot is an alternative delivery model chosen for project-level flexibility, not a statement that Jakarta EE is obsolete.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section continues the Spring Boot architecture presentation. We now show the next step: separating selected capabilities into independently owned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migration is an operating-model decision, not a claim that the modular monolith was technically invalid.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left side to identify the topology. The container screenshot confirms the runtime topology shown in the diagram. Use the right side to explain why the split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smoke output supports the request path: the gateway and service endpoints respond after Compose startup.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Newman report supports the exposed API behavior while the diagram explains the internal distributed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ZAP output is supporting security validation; the diagram explains the discovery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purpose of each validation layer. Show screenshots only if the teacher asks for evidence after the architecture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connecting the architecture to the deliverables: boundaries, REST communication, gateway, Docker, CI validation, and distributed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09FD34C-FF37-4106-94A0-497DA321C76A}"/>
              </a:ext>
            </a:extLst>
          </p:cNvPr>
          <p:cNvSpPr>
            <a:spLocks noGrp="1"/>
          </p:cNvSpPr>
          <p:nvPr/>
        </p:nvSpPr>
        <p:spPr>
          <a:xfrm>
            <a:off x="781050" y="1009650"/>
            <a:ext cx="80962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43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4350" b="1" dirty="0">
                <a:solidFill>
                  <a:srgbClr val="F5F5F2"/>
                </a:solidFill>
                <a:latin typeface="Aptos"/>
                <a:ea typeface="Aptos"/>
                <a:cs typeface="Aptos"/>
              </a:rPr>
              <a:t>Digi Bank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9726A2A-09CD-4DAE-92C8-4B1A9DD3167B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93345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Spring Boot re-platforming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81C7E2-D097-4372-8FB5-5ABECC65F255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1619250" cy="38100"/>
          </a:xfrm>
          <a:prstGeom prst="rect">
            <a:avLst/>
          </a:prstGeom>
          <a:solidFill>
            <a:srgbClr val="F5F5F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D92B84-0C33-4BA0-8E8A-979C7B38931D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72390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8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Same banking domain. A more application-owned delivery model.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4023D-A854-4663-B116-59097828D1D0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10287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12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Jakarta EE reference  /  Spring Boot implementation  /  Java 21  /  PostgreSQL  /  WAR</a:t>
            </a:r>
          </a:p>
        </p:txBody>
      </p:sp>
    </p:spTree>
    <p:extLst>
      <p:ext uri="{BB962C8B-B14F-4D97-AF65-F5344CB8AC3E}">
        <p14:creationId xmlns:p14="http://schemas.microsoft.com/office/powerpoint/2010/main" val="889878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EC61072-59B7-49B2-B58B-A049C031FB2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>
              <a:def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BUSINESS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920103-8954-4BD4-A38B-FBDDCB5AB8B5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Why Digi Bank needs this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E86053-92FC-463D-AF15-C133148B2FD5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71B83A-F367-494F-8575-276417FB710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477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667"/>
          </a:bodyPr>
          <a:lstStyle/>
          <a:p>
            <a:pPr>
              <a:defRPr sz="18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Digi Bank is a digital bank, not an isolated application. Its architecture is driven by the people, organizations, and systems that depend on it.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D8AD60-1E92-40ED-9628-D64F7778CB59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4953000" cy="2381250"/>
          </a:xfrm>
          <a:prstGeom prst="roundRect">
            <a:avLst>
              <a:gd name="adj" fmla="val 3200"/>
            </a:avLst>
          </a:prstGeom>
          <a:solidFill>
            <a:srgbClr val="0A0A0A"/>
          </a:solidFill>
          <a:ln w="9525">
            <a:solidFill>
              <a:srgbClr val="666666"/>
            </a:solidFill>
          </a:ln>
        </p:spPr>
        <p:txBody>
          <a:bodyPr/>
          <a:lstStyle/>
          <a:p>
            <a:endParaRPr lang="en-CM" sz="1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F7B57B-2526-40A4-A2A2-E3ECB6496A02}"/>
              </a:ext>
            </a:extLst>
          </p:cNvPr>
          <p:cNvSpPr>
            <a:spLocks noGrp="1"/>
          </p:cNvSpPr>
          <p:nvPr/>
        </p:nvSpPr>
        <p:spPr>
          <a:xfrm>
            <a:off x="1000125" y="28575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13"/>
          </a:bodyPr>
          <a:lstStyle/>
          <a:p>
            <a:pPr>
              <a:defRPr sz="172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Stakeholders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1E74A7-1E08-4136-B8C2-48AA027A8FAB}"/>
              </a:ext>
            </a:extLst>
          </p:cNvPr>
          <p:cNvSpPr>
            <a:spLocks noGrp="1"/>
          </p:cNvSpPr>
          <p:nvPr/>
        </p:nvSpPr>
        <p:spPr>
          <a:xfrm>
            <a:off x="1000125" y="33337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22F011-9A12-49FC-BF6E-97EC1D717FEE}"/>
              </a:ext>
            </a:extLst>
          </p:cNvPr>
          <p:cNvSpPr>
            <a:spLocks noGrp="1"/>
          </p:cNvSpPr>
          <p:nvPr/>
        </p:nvSpPr>
        <p:spPr>
          <a:xfrm>
            <a:off x="1238250" y="333375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381"/>
          </a:bodyPr>
          <a:lstStyle/>
          <a:p>
            <a:pPr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 dirty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Customers need reliable digital banking and privacy.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514657-832A-4C2F-AB55-7A4E1368295B}"/>
              </a:ext>
            </a:extLst>
          </p:cNvPr>
          <p:cNvSpPr>
            <a:spLocks noGrp="1"/>
          </p:cNvSpPr>
          <p:nvPr/>
        </p:nvSpPr>
        <p:spPr>
          <a:xfrm>
            <a:off x="1000125" y="3743325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F31F40-428D-44D3-A955-EC1ACF2F263A}"/>
              </a:ext>
            </a:extLst>
          </p:cNvPr>
          <p:cNvSpPr>
            <a:spLocks noGrp="1"/>
          </p:cNvSpPr>
          <p:nvPr/>
        </p:nvSpPr>
        <p:spPr>
          <a:xfrm>
            <a:off x="1238250" y="3743325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336"/>
          </a:bodyPr>
          <a:lstStyle/>
          <a:p>
            <a:pPr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 dirty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Partners need stable APIs and predictable integration.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FDF6B3-C948-4840-A527-0F351B961051}"/>
              </a:ext>
            </a:extLst>
          </p:cNvPr>
          <p:cNvSpPr>
            <a:spLocks noGrp="1"/>
          </p:cNvSpPr>
          <p:nvPr/>
        </p:nvSpPr>
        <p:spPr>
          <a:xfrm>
            <a:off x="1000125" y="41529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3F6979-7DD3-4134-A9F8-E55581149D40}"/>
              </a:ext>
            </a:extLst>
          </p:cNvPr>
          <p:cNvSpPr>
            <a:spLocks noGrp="1"/>
          </p:cNvSpPr>
          <p:nvPr/>
        </p:nvSpPr>
        <p:spPr>
          <a:xfrm>
            <a:off x="1238250" y="41529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58"/>
          </a:bodyPr>
          <a:lstStyle/>
          <a:p>
            <a:pPr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Compliance and regulators need traceability and evidence.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39D61E-36BA-4921-8AC5-EB04F0704AC0}"/>
              </a:ext>
            </a:extLst>
          </p:cNvPr>
          <p:cNvSpPr>
            <a:spLocks noGrp="1"/>
          </p:cNvSpPr>
          <p:nvPr/>
        </p:nvSpPr>
        <p:spPr>
          <a:xfrm>
            <a:off x="1000125" y="4562475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EE87C9-61AE-482F-B2EF-4B9AC9D629CF}"/>
              </a:ext>
            </a:extLst>
          </p:cNvPr>
          <p:cNvSpPr>
            <a:spLocks noGrp="1"/>
          </p:cNvSpPr>
          <p:nvPr/>
        </p:nvSpPr>
        <p:spPr>
          <a:xfrm>
            <a:off x="1238250" y="4562475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Operations and support need visibility and controlled processing.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CF5F90F-44CD-43C5-9394-5233BE9BD6C3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4953000" cy="2381250"/>
          </a:xfrm>
          <a:prstGeom prst="roundRect">
            <a:avLst>
              <a:gd name="adj" fmla="val 3200"/>
            </a:avLst>
          </a:prstGeom>
          <a:solidFill>
            <a:srgbClr val="0A0A0A"/>
          </a:solidFill>
          <a:ln w="9525">
            <a:solidFill>
              <a:srgbClr val="666666"/>
            </a:solidFill>
          </a:ln>
        </p:spPr>
        <p:txBody>
          <a:bodyPr/>
          <a:lstStyle/>
          <a:p>
            <a:endParaRPr lang="en-CM" sz="1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BA99F9-3533-4A06-9DC0-75003B7AA558}"/>
              </a:ext>
            </a:extLst>
          </p:cNvPr>
          <p:cNvSpPr>
            <a:spLocks noGrp="1"/>
          </p:cNvSpPr>
          <p:nvPr/>
        </p:nvSpPr>
        <p:spPr>
          <a:xfrm>
            <a:off x="6505575" y="2857500"/>
            <a:ext cx="3333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413"/>
          </a:bodyPr>
          <a:lstStyle/>
          <a:p>
            <a:pPr>
              <a:defRPr sz="172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Business drivers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CF0A8E-30BD-4C64-8F17-4B421CB25A99}"/>
              </a:ext>
            </a:extLst>
          </p:cNvPr>
          <p:cNvSpPr>
            <a:spLocks noGrp="1"/>
          </p:cNvSpPr>
          <p:nvPr/>
        </p:nvSpPr>
        <p:spPr>
          <a:xfrm>
            <a:off x="6505575" y="33337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99B887-2351-40B5-84E2-DC0DF8941564}"/>
              </a:ext>
            </a:extLst>
          </p:cNvPr>
          <p:cNvSpPr>
            <a:spLocks noGrp="1"/>
          </p:cNvSpPr>
          <p:nvPr/>
        </p:nvSpPr>
        <p:spPr>
          <a:xfrm>
            <a:off x="6743700" y="333375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Frictionless digital onboarding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1F958F-9864-4CA3-A1C4-AC107FA03C2C}"/>
              </a:ext>
            </a:extLst>
          </p:cNvPr>
          <p:cNvSpPr>
            <a:spLocks noGrp="1"/>
          </p:cNvSpPr>
          <p:nvPr/>
        </p:nvSpPr>
        <p:spPr>
          <a:xfrm>
            <a:off x="6505575" y="3743325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5C6C03-9888-4537-BF59-F775E29B8C11}"/>
              </a:ext>
            </a:extLst>
          </p:cNvPr>
          <p:cNvSpPr>
            <a:spLocks noGrp="1"/>
          </p:cNvSpPr>
          <p:nvPr/>
        </p:nvSpPr>
        <p:spPr>
          <a:xfrm>
            <a:off x="6743700" y="3743325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Payments, accounts, credit, and transfers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C1A5C8-96B0-44FC-B46D-862F0CA3F0C9}"/>
              </a:ext>
            </a:extLst>
          </p:cNvPr>
          <p:cNvSpPr>
            <a:spLocks noGrp="1"/>
          </p:cNvSpPr>
          <p:nvPr/>
        </p:nvSpPr>
        <p:spPr>
          <a:xfrm>
            <a:off x="6505575" y="41529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1598C2-4E34-46C0-B5FE-0ED7A2E58A17}"/>
              </a:ext>
            </a:extLst>
          </p:cNvPr>
          <p:cNvSpPr>
            <a:spLocks noGrp="1"/>
          </p:cNvSpPr>
          <p:nvPr/>
        </p:nvSpPr>
        <p:spPr>
          <a:xfrm>
            <a:off x="6743700" y="4152900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KYC, AML, sanctions, and auditability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627BCD-7338-416B-8B44-E68612844E81}"/>
              </a:ext>
            </a:extLst>
          </p:cNvPr>
          <p:cNvSpPr>
            <a:spLocks noGrp="1"/>
          </p:cNvSpPr>
          <p:nvPr/>
        </p:nvSpPr>
        <p:spPr>
          <a:xfrm>
            <a:off x="6505575" y="4562475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65A95B-0F93-46AE-846A-D5F3916609F8}"/>
              </a:ext>
            </a:extLst>
          </p:cNvPr>
          <p:cNvSpPr>
            <a:spLocks noGrp="1"/>
          </p:cNvSpPr>
          <p:nvPr/>
        </p:nvSpPr>
        <p:spPr>
          <a:xfrm>
            <a:off x="6743700" y="4562475"/>
            <a:ext cx="38576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Growth, availability, security, and integration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4B4802-81FA-4999-9C72-C0DE6ABAE727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974"/>
          </a:bodyPr>
          <a:lstStyle/>
          <a:p>
            <a:pPr>
              <a:defRPr sz="1425" b="0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These needs define the architecture before any framework or deployment choice is made.</a:t>
            </a:r>
          </a:p>
        </p:txBody>
      </p:sp>
    </p:spTree>
    <p:extLst>
      <p:ext uri="{BB962C8B-B14F-4D97-AF65-F5344CB8AC3E}">
        <p14:creationId xmlns:p14="http://schemas.microsoft.com/office/powerpoint/2010/main" val="1836357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D9C2035-05CA-40AC-B9D9-9077B5334D0F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>
              <a:def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ARCHITECTURE REASONING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202732-9DB8-404D-B8C3-CA83DC0CB0A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From business needs to structural choices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9A75F1-4D5E-4AC0-8DA6-FDF606A5EE16}"/>
              </a:ext>
            </a:extLst>
          </p:cNvPr>
          <p:cNvSpPr>
            <a:spLocks noGrp="1"/>
          </p:cNvSpPr>
          <p:nvPr/>
        </p:nvSpPr>
        <p:spPr>
          <a:xfrm>
            <a:off x="11239500" y="3619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F68329-2108-4244-B77A-78105EADF1C2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760"/>
          </a:bodyPr>
          <a:lstStyle/>
          <a:p>
            <a:pPr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The architecture follows a progression from responsibilities to boundaries, then to implementation and delivery.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AF0D8E-27D9-4968-A9DF-03BD610A1684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0A0A0A"/>
          </a:solidFill>
          <a:ln w="9525">
            <a:solidFill>
              <a:srgbClr val="666666"/>
            </a:solidFill>
          </a:ln>
        </p:spPr>
        <p:txBody>
          <a:bodyPr/>
          <a:lstStyle/>
          <a:p>
            <a:endParaRPr lang="en-CM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205890-5C75-4180-B246-AFDE08DFC3F5}"/>
              </a:ext>
            </a:extLst>
          </p:cNvPr>
          <p:cNvSpPr>
            <a:spLocks noGrp="1"/>
          </p:cNvSpPr>
          <p:nvPr/>
        </p:nvSpPr>
        <p:spPr>
          <a:xfrm>
            <a:off x="1000125" y="26670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187"/>
          </a:bodyPr>
          <a:lstStyle/>
          <a:p>
            <a:pPr>
              <a:defRPr sz="24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6B5450-D4C7-4AB3-A521-16BB8E6C198A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631"/>
          </a:bodyPr>
          <a:lstStyle/>
          <a:p>
            <a:pPr>
              <a:defRPr sz="15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Business functions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B212A4-A40F-402F-8C36-D7A747A95367}"/>
              </a:ext>
            </a:extLst>
          </p:cNvPr>
          <p:cNvSpPr>
            <a:spLocks noGrp="1"/>
          </p:cNvSpPr>
          <p:nvPr/>
        </p:nvSpPr>
        <p:spPr>
          <a:xfrm>
            <a:off x="1000125" y="3667125"/>
            <a:ext cx="1714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892"/>
          </a:bodyPr>
          <a:lstStyle/>
          <a:p>
            <a:pPr>
              <a:defRPr sz="127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Customer, account, transaction, credit, compliance, and partner access.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4C834A-51D8-4EBB-81FB-155BF06DC4DF}"/>
              </a:ext>
            </a:extLst>
          </p:cNvPr>
          <p:cNvSpPr>
            <a:spLocks noGrp="1"/>
          </p:cNvSpPr>
          <p:nvPr/>
        </p:nvSpPr>
        <p:spPr>
          <a:xfrm>
            <a:off x="3476625" y="238125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0A0A0A"/>
          </a:solidFill>
          <a:ln w="9525">
            <a:solidFill>
              <a:srgbClr val="666666"/>
            </a:solidFill>
          </a:ln>
        </p:spPr>
        <p:txBody>
          <a:bodyPr/>
          <a:lstStyle/>
          <a:p>
            <a:endParaRPr lang="en-CM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FF7723-9942-4A14-8D4A-19B6ECA5C80F}"/>
              </a:ext>
            </a:extLst>
          </p:cNvPr>
          <p:cNvSpPr>
            <a:spLocks noGrp="1"/>
          </p:cNvSpPr>
          <p:nvPr/>
        </p:nvSpPr>
        <p:spPr>
          <a:xfrm>
            <a:off x="3790950" y="26670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187"/>
          </a:bodyPr>
          <a:lstStyle/>
          <a:p>
            <a:pPr>
              <a:defRPr sz="24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437347-4F57-4F08-A24E-315F1E2FC524}"/>
              </a:ext>
            </a:extLst>
          </p:cNvPr>
          <p:cNvSpPr>
            <a:spLocks noGrp="1"/>
          </p:cNvSpPr>
          <p:nvPr/>
        </p:nvSpPr>
        <p:spPr>
          <a:xfrm>
            <a:off x="3790950" y="32385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>
              <a:defRPr sz="15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Constraints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79AC78-708F-4197-A73A-017E9764E278}"/>
              </a:ext>
            </a:extLst>
          </p:cNvPr>
          <p:cNvSpPr>
            <a:spLocks noGrp="1"/>
          </p:cNvSpPr>
          <p:nvPr/>
        </p:nvSpPr>
        <p:spPr>
          <a:xfrm>
            <a:off x="3790950" y="3667125"/>
            <a:ext cx="1714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832"/>
          </a:bodyPr>
          <a:lstStyle/>
          <a:p>
            <a:pPr>
              <a:defRPr sz="127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Consistency, security, availability, traceability, scalability, and evolution.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F11699-8370-4E60-9D16-552FEFC052C7}"/>
              </a:ext>
            </a:extLst>
          </p:cNvPr>
          <p:cNvSpPr>
            <a:spLocks noGrp="1"/>
          </p:cNvSpPr>
          <p:nvPr/>
        </p:nvSpPr>
        <p:spPr>
          <a:xfrm>
            <a:off x="6267450" y="238125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0A0A0A"/>
          </a:solidFill>
          <a:ln w="9525">
            <a:solidFill>
              <a:srgbClr val="666666"/>
            </a:solidFill>
          </a:ln>
        </p:spPr>
        <p:txBody>
          <a:bodyPr/>
          <a:lstStyle/>
          <a:p>
            <a:endParaRPr lang="en-CM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2A5BA8-7F9B-48AF-BC99-38D85ABC92D1}"/>
              </a:ext>
            </a:extLst>
          </p:cNvPr>
          <p:cNvSpPr>
            <a:spLocks noGrp="1"/>
          </p:cNvSpPr>
          <p:nvPr/>
        </p:nvSpPr>
        <p:spPr>
          <a:xfrm>
            <a:off x="6581775" y="26670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187"/>
          </a:bodyPr>
          <a:lstStyle/>
          <a:p>
            <a:pPr>
              <a:defRPr sz="24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E86AD0-A16E-4212-8ABA-8BE2CCBDED4B}"/>
              </a:ext>
            </a:extLst>
          </p:cNvPr>
          <p:cNvSpPr>
            <a:spLocks noGrp="1"/>
          </p:cNvSpPr>
          <p:nvPr/>
        </p:nvSpPr>
        <p:spPr>
          <a:xfrm>
            <a:off x="6581775" y="32385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>
              <a:defRPr sz="15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874FAC-C3EF-4EB2-B469-FC17B3500EDB}"/>
              </a:ext>
            </a:extLst>
          </p:cNvPr>
          <p:cNvSpPr>
            <a:spLocks noGrp="1"/>
          </p:cNvSpPr>
          <p:nvPr/>
        </p:nvSpPr>
        <p:spPr>
          <a:xfrm>
            <a:off x="6581775" y="3667125"/>
            <a:ext cx="1714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892"/>
          </a:bodyPr>
          <a:lstStyle/>
          <a:p>
            <a:pPr>
              <a:defRPr sz="127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Gateway, modular core, persistence, external integrations, and clear boundaries.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15C01AC-02B9-44E1-BF7D-3B5E61D94A96}"/>
              </a:ext>
            </a:extLst>
          </p:cNvPr>
          <p:cNvSpPr>
            <a:spLocks noGrp="1"/>
          </p:cNvSpPr>
          <p:nvPr/>
        </p:nvSpPr>
        <p:spPr>
          <a:xfrm>
            <a:off x="9058275" y="238125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0A0A0A"/>
          </a:solidFill>
          <a:ln w="9525">
            <a:solidFill>
              <a:srgbClr val="666666"/>
            </a:solidFill>
          </a:ln>
        </p:spPr>
        <p:txBody>
          <a:bodyPr/>
          <a:lstStyle/>
          <a:p>
            <a:endParaRPr lang="en-CM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06EF58-2ED0-4E43-911C-5075E955D016}"/>
              </a:ext>
            </a:extLst>
          </p:cNvPr>
          <p:cNvSpPr>
            <a:spLocks noGrp="1"/>
          </p:cNvSpPr>
          <p:nvPr/>
        </p:nvSpPr>
        <p:spPr>
          <a:xfrm>
            <a:off x="9372600" y="266700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187"/>
          </a:bodyPr>
          <a:lstStyle/>
          <a:p>
            <a:pPr>
              <a:defRPr sz="24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CB326F-4519-4545-866B-A442B0DB5A12}"/>
              </a:ext>
            </a:extLst>
          </p:cNvPr>
          <p:cNvSpPr>
            <a:spLocks noGrp="1"/>
          </p:cNvSpPr>
          <p:nvPr/>
        </p:nvSpPr>
        <p:spPr>
          <a:xfrm>
            <a:off x="9372600" y="32385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8889"/>
          </a:bodyPr>
          <a:lstStyle/>
          <a:p>
            <a:pPr>
              <a:defRPr sz="15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Evolution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B5153B-D829-4364-B5EF-906AD3998F86}"/>
              </a:ext>
            </a:extLst>
          </p:cNvPr>
          <p:cNvSpPr>
            <a:spLocks noGrp="1"/>
          </p:cNvSpPr>
          <p:nvPr/>
        </p:nvSpPr>
        <p:spPr>
          <a:xfrm>
            <a:off x="9372600" y="3667125"/>
            <a:ext cx="17145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715"/>
          </a:bodyPr>
          <a:lstStyle/>
          <a:p>
            <a:pPr>
              <a:defRPr sz="127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Jakarta EE baseline, Spring Boot delivery model, then microservices.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6387F8-94C9-4C0E-A205-21BA4DB130F0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474"/>
          </a:bodyPr>
          <a:lstStyle/>
          <a:p>
            <a:pPr>
              <a:defRPr sz="1425" b="0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The technical implementation is presented as the answer to this reasoning chain.</a:t>
            </a:r>
          </a:p>
        </p:txBody>
      </p:sp>
    </p:spTree>
    <p:extLst>
      <p:ext uri="{BB962C8B-B14F-4D97-AF65-F5344CB8AC3E}">
        <p14:creationId xmlns:p14="http://schemas.microsoft.com/office/powerpoint/2010/main" val="151574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CF6D403-F310-49B7-AF4B-D833F7605844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1F25CA-EF8B-4D26-8EDF-15881F619085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Workshop context and expected outcome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380086-BD67-45A1-A24B-408CE0C9D125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18C70C-B7AC-47A7-9A40-5093ACCB9363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9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Workshop 03 asks us to implement the same Digi Bank scope again with Spring Boot.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0C02FC-8E70-44A9-8E88-8386FF2BBD95}"/>
              </a:ext>
            </a:extLst>
          </p:cNvPr>
          <p:cNvSpPr>
            <a:spLocks noGrp="1"/>
          </p:cNvSpPr>
          <p:nvPr/>
        </p:nvSpPr>
        <p:spPr>
          <a:xfrm>
            <a:off x="990600" y="245745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business domains remain the same.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AD65C6-E17E-41DA-9B02-564EDAC0A8B6}"/>
              </a:ext>
            </a:extLst>
          </p:cNvPr>
          <p:cNvSpPr>
            <a:spLocks noGrp="1"/>
          </p:cNvSpPr>
          <p:nvPr/>
        </p:nvSpPr>
        <p:spPr>
          <a:xfrm>
            <a:off x="990600" y="2914650"/>
            <a:ext cx="5619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modular monolith remains the deployment shape.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AB5D18-F77B-44FA-81FD-204190B49DAB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5143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PostgreSQL remains the persistence boundary.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E32F02-B2EB-41BA-8BD3-B5B93CF93DA6}"/>
              </a:ext>
            </a:extLst>
          </p:cNvPr>
          <p:cNvSpPr>
            <a:spLocks noGrp="1"/>
          </p:cNvSpPr>
          <p:nvPr/>
        </p:nvSpPr>
        <p:spPr>
          <a:xfrm>
            <a:off x="990600" y="3829050"/>
            <a:ext cx="51435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application remains deployable as a WAR.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E75955-CA9E-411F-A18F-6D38428F2CFB}"/>
              </a:ext>
            </a:extLst>
          </p:cNvPr>
          <p:cNvSpPr>
            <a:spLocks noGrp="1"/>
          </p:cNvSpPr>
          <p:nvPr/>
        </p:nvSpPr>
        <p:spPr>
          <a:xfrm>
            <a:off x="990600" y="4286250"/>
            <a:ext cx="8858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comparison is about delivery and operating models, not changing the banking objectives.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AEFED3-D653-49E7-B2D2-055A1D48D6F9}"/>
              </a:ext>
            </a:extLst>
          </p:cNvPr>
          <p:cNvSpPr>
            <a:spLocks noGrp="1"/>
          </p:cNvSpPr>
          <p:nvPr/>
        </p:nvSpPr>
        <p:spPr>
          <a:xfrm>
            <a:off x="800100" y="596265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Source: docs/03_cloud_architecture_template.adoc</a:t>
            </a:r>
          </a:p>
        </p:txBody>
      </p:sp>
    </p:spTree>
    <p:extLst>
      <p:ext uri="{BB962C8B-B14F-4D97-AF65-F5344CB8AC3E}">
        <p14:creationId xmlns:p14="http://schemas.microsoft.com/office/powerpoint/2010/main" val="82699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191968-0102-4333-BC03-49DC6B35A9C9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ARCHITECTURE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BAD94-7AC4-44D9-8D08-C3D14EF62443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Reference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7F56DC-9B56-4A08-96C5-D2D9E6A4108E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97321" y="1466850"/>
            <a:ext cx="4197358" cy="4953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FB68C5-28B0-4C65-ADA6-332D962AFD66}"/>
              </a:ext>
            </a:extLst>
          </p:cNvPr>
          <p:cNvSpPr>
            <a:spLocks noGrp="1"/>
          </p:cNvSpPr>
          <p:nvPr/>
        </p:nvSpPr>
        <p:spPr>
          <a:xfrm>
            <a:off x="800100" y="6438900"/>
            <a:ext cx="8572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12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Context diagram: gateway, core banking modules, PostgreSQL, and external systems.</a:t>
            </a:r>
          </a:p>
        </p:txBody>
      </p:sp>
    </p:spTree>
    <p:extLst>
      <p:ext uri="{BB962C8B-B14F-4D97-AF65-F5344CB8AC3E}">
        <p14:creationId xmlns:p14="http://schemas.microsoft.com/office/powerpoint/2010/main" val="7682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E96E159-24CD-4E08-A55F-9F65DF110A99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6BF063-A1C2-486F-A33E-7BA608AD435A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Why a second implementation was needed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CCBC44-9CC1-49B7-B1C2-0F55E64D9C04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644526"/>
            <a:ext cx="6667500" cy="23118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CBB063-088A-4442-BBB7-05F71BA71E53}"/>
              </a:ext>
            </a:extLst>
          </p:cNvPr>
          <p:cNvSpPr>
            <a:spLocks noGrp="1"/>
          </p:cNvSpPr>
          <p:nvPr/>
        </p:nvSpPr>
        <p:spPr>
          <a:xfrm>
            <a:off x="7810500" y="1790700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87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migration changes how the application is built, run, tested, and deployed.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9D131-6847-421D-ACA2-91FF0B0D6F4D}"/>
              </a:ext>
            </a:extLst>
          </p:cNvPr>
          <p:cNvSpPr>
            <a:spLocks noGrp="1"/>
          </p:cNvSpPr>
          <p:nvPr/>
        </p:nvSpPr>
        <p:spPr>
          <a:xfrm>
            <a:off x="7810500" y="314325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00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Shorter local feedback cycle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D27D7-FAF7-4588-A6A0-828295F5AD48}"/>
              </a:ext>
            </a:extLst>
          </p:cNvPr>
          <p:cNvSpPr>
            <a:spLocks noGrp="1"/>
          </p:cNvSpPr>
          <p:nvPr/>
        </p:nvSpPr>
        <p:spPr>
          <a:xfrm>
            <a:off x="7810500" y="360045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00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Less application-server setup during development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D73AA-0F33-4E91-9C92-C3D4ECD08A8A}"/>
              </a:ext>
            </a:extLst>
          </p:cNvPr>
          <p:cNvSpPr>
            <a:spLocks noGrp="1"/>
          </p:cNvSpPr>
          <p:nvPr/>
        </p:nvSpPr>
        <p:spPr>
          <a:xfrm>
            <a:off x="7810500" y="405765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00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More isolated and repeatable automated tests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75D9A1-378A-4EC3-8533-D6D45592E516}"/>
              </a:ext>
            </a:extLst>
          </p:cNvPr>
          <p:cNvSpPr>
            <a:spLocks noGrp="1"/>
          </p:cNvSpPr>
          <p:nvPr/>
        </p:nvSpPr>
        <p:spPr>
          <a:xfrm>
            <a:off x="7810500" y="451485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00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Java 21 and a current application baseline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228B1F-8D8E-4692-8F06-958162D8E37A}"/>
              </a:ext>
            </a:extLst>
          </p:cNvPr>
          <p:cNvSpPr>
            <a:spLocks noGrp="1"/>
          </p:cNvSpPr>
          <p:nvPr/>
        </p:nvSpPr>
        <p:spPr>
          <a:xfrm>
            <a:off x="7810500" y="4972050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00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WAR and WildFly compatibility retained</a:t>
            </a:r>
          </a:p>
        </p:txBody>
      </p:sp>
    </p:spTree>
    <p:extLst>
      <p:ext uri="{BB962C8B-B14F-4D97-AF65-F5344CB8AC3E}">
        <p14:creationId xmlns:p14="http://schemas.microsoft.com/office/powerpoint/2010/main" val="175729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7C82682-E1BC-4968-B071-94745CFBD70B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1AD4FB-8D92-4BFE-81D3-D1049974E861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Two operating models, one business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73AB1A-C1FA-4A25-8B99-E34AA74320C0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29386-C7F9-441A-BAD2-46C0384BCE1D}"/>
              </a:ext>
            </a:extLst>
          </p:cNvPr>
          <p:cNvSpPr>
            <a:spLocks noGrp="1"/>
          </p:cNvSpPr>
          <p:nvPr/>
        </p:nvSpPr>
        <p:spPr>
          <a:xfrm>
            <a:off x="952500" y="180975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02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Jakarta EE reference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C1359F-F52A-4504-8866-B2E804B7CB30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4476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02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Spring Boot implementation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B1B477-3F16-4A6B-92F2-03494E0598D6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102870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0199AA-AE97-4B0A-9D3A-A425E94A7F99}"/>
              </a:ext>
            </a:extLst>
          </p:cNvPr>
          <p:cNvSpPr>
            <a:spLocks noGrp="1"/>
          </p:cNvSpPr>
          <p:nvPr/>
        </p:nvSpPr>
        <p:spPr>
          <a:xfrm>
            <a:off x="952500" y="24955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WildFly-centered runtime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E041AD-9891-4D8A-8DEB-4ACB2AF9C78D}"/>
              </a:ext>
            </a:extLst>
          </p:cNvPr>
          <p:cNvSpPr>
            <a:spLocks noGrp="1"/>
          </p:cNvSpPr>
          <p:nvPr/>
        </p:nvSpPr>
        <p:spPr>
          <a:xfrm>
            <a:off x="6667500" y="24955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Embedded Tomcat plus WildFly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15E14-9175-4E72-A3CB-5BAD25790341}"/>
              </a:ext>
            </a:extLst>
          </p:cNvPr>
          <p:cNvSpPr>
            <a:spLocks noGrp="1"/>
          </p:cNvSpPr>
          <p:nvPr/>
        </p:nvSpPr>
        <p:spPr>
          <a:xfrm>
            <a:off x="819150" y="3009900"/>
            <a:ext cx="102870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362B87-1533-42EE-8ED5-37D36258867F}"/>
              </a:ext>
            </a:extLst>
          </p:cNvPr>
          <p:cNvSpPr>
            <a:spLocks noGrp="1"/>
          </p:cNvSpPr>
          <p:nvPr/>
        </p:nvSpPr>
        <p:spPr>
          <a:xfrm>
            <a:off x="952500" y="312420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Container configuration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A6F1C0-3419-4CA6-8DA1-19319E6CB4FF}"/>
              </a:ext>
            </a:extLst>
          </p:cNvPr>
          <p:cNvSpPr>
            <a:spLocks noGrp="1"/>
          </p:cNvSpPr>
          <p:nvPr/>
        </p:nvSpPr>
        <p:spPr>
          <a:xfrm>
            <a:off x="6667500" y="312420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Application configuration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515147-66B6-43EE-B546-3F42002D7E60}"/>
              </a:ext>
            </a:extLst>
          </p:cNvPr>
          <p:cNvSpPr>
            <a:spLocks noGrp="1"/>
          </p:cNvSpPr>
          <p:nvPr/>
        </p:nvSpPr>
        <p:spPr>
          <a:xfrm>
            <a:off x="819150" y="3638550"/>
            <a:ext cx="102870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2F16A0-60B3-4084-BEDC-2F0AB6F7333E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persistence.xml and deployment setup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2C9016-DB31-4A2F-9542-E65A80610CD9}"/>
              </a:ext>
            </a:extLst>
          </p:cNvPr>
          <p:cNvSpPr>
            <a:spLocks noGrp="1"/>
          </p:cNvSpPr>
          <p:nvPr/>
        </p:nvSpPr>
        <p:spPr>
          <a:xfrm>
            <a:off x="6667500" y="37528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application.yml and auto-configuration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6D38A-A0D9-498B-9A32-6FBDE71494C7}"/>
              </a:ext>
            </a:extLst>
          </p:cNvPr>
          <p:cNvSpPr>
            <a:spLocks noGrp="1"/>
          </p:cNvSpPr>
          <p:nvPr/>
        </p:nvSpPr>
        <p:spPr>
          <a:xfrm>
            <a:off x="819150" y="4267200"/>
            <a:ext cx="102870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8BF24F-BB17-46D1-89E0-6EFDE35B81F8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Application-server startup for local work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BA4F08-A2B5-4467-A40F-9780FC1957BB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Standalone application execution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231094-CCB3-4D2C-B214-9035B5560903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102870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FAE6BC-10F6-4246-BB0E-0F84B2B0CE25}"/>
              </a:ext>
            </a:extLst>
          </p:cNvPr>
          <p:cNvSpPr>
            <a:spLocks noGrp="1"/>
          </p:cNvSpPr>
          <p:nvPr/>
        </p:nvSpPr>
        <p:spPr>
          <a:xfrm>
            <a:off x="952500" y="50101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Container-oriented test flow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75542C-9B40-42E0-9DDD-B271A7D5A26B}"/>
              </a:ext>
            </a:extLst>
          </p:cNvPr>
          <p:cNvSpPr>
            <a:spLocks noGrp="1"/>
          </p:cNvSpPr>
          <p:nvPr/>
        </p:nvSpPr>
        <p:spPr>
          <a:xfrm>
            <a:off x="6667500" y="5010150"/>
            <a:ext cx="45720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42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Focused Spring test slices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06843B-8BEA-4D0B-9EE3-17FE11E25306}"/>
              </a:ext>
            </a:extLst>
          </p:cNvPr>
          <p:cNvSpPr>
            <a:spLocks noGrp="1"/>
          </p:cNvSpPr>
          <p:nvPr/>
        </p:nvSpPr>
        <p:spPr>
          <a:xfrm>
            <a:off x="952500" y="5753100"/>
            <a:ext cx="100012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87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practical gain is a shorter path from code change to validated behavior.</a:t>
            </a:r>
          </a:p>
        </p:txBody>
      </p:sp>
    </p:spTree>
    <p:extLst>
      <p:ext uri="{BB962C8B-B14F-4D97-AF65-F5344CB8AC3E}">
        <p14:creationId xmlns:p14="http://schemas.microsoft.com/office/powerpoint/2010/main" val="1235165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7CD50A-42EF-48D5-B571-8629C2001A08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C56650-E9DC-48B2-8688-69C04F49FE13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Implemented Spring Boot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1A2C24-19A5-4B4A-91EB-B5C12B624BB9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86419" y="1466850"/>
            <a:ext cx="10019162" cy="4953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86C1EE-E7CD-4FA3-AF4A-EB243B6653EF}"/>
              </a:ext>
            </a:extLst>
          </p:cNvPr>
          <p:cNvSpPr>
            <a:spLocks noGrp="1"/>
          </p:cNvSpPr>
          <p:nvPr/>
        </p:nvSpPr>
        <p:spPr>
          <a:xfrm>
            <a:off x="800100" y="6438900"/>
            <a:ext cx="7429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12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One deployable application with explicit module boundaries.</a:t>
            </a:r>
          </a:p>
        </p:txBody>
      </p:sp>
    </p:spTree>
    <p:extLst>
      <p:ext uri="{BB962C8B-B14F-4D97-AF65-F5344CB8AC3E}">
        <p14:creationId xmlns:p14="http://schemas.microsoft.com/office/powerpoint/2010/main" val="104586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915AEA5-197E-45F7-A454-9B1A8E750607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4AE779-D317-46C7-AF56-E8CC586A9B18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Modernizations in the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58AAE-87D1-4BAC-B639-FCCB514C5A3F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EFBB15-7405-4E95-AA13-A736D3121A7C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10096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80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modernization work targets correctness, API safety, productivity, and delivery.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05A8B-5DEE-4EAE-B950-79D418C16C5A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Financial correctness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3B385-CBB2-4E2A-88CF-8FD6E5A4394B}"/>
              </a:ext>
            </a:extLst>
          </p:cNvPr>
          <p:cNvSpPr>
            <a:spLocks noGrp="1"/>
          </p:cNvSpPr>
          <p:nvPr/>
        </p:nvSpPr>
        <p:spPr>
          <a:xfrm>
            <a:off x="4572000" y="24003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double to BigDecimal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996FF-0178-4FB1-9024-264D295059ED}"/>
              </a:ext>
            </a:extLst>
          </p:cNvPr>
          <p:cNvSpPr>
            <a:spLocks noGrp="1"/>
          </p:cNvSpPr>
          <p:nvPr/>
        </p:nvSpPr>
        <p:spPr>
          <a:xfrm>
            <a:off x="1009650" y="2828925"/>
            <a:ext cx="9753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5AF40-B226-4237-BD48-1137B1DA30CA}"/>
              </a:ext>
            </a:extLst>
          </p:cNvPr>
          <p:cNvSpPr>
            <a:spLocks noGrp="1"/>
          </p:cNvSpPr>
          <p:nvPr/>
        </p:nvSpPr>
        <p:spPr>
          <a:xfrm>
            <a:off x="1009650" y="303847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API contract safety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A4810A-F199-4285-B2E8-4729277D576F}"/>
              </a:ext>
            </a:extLst>
          </p:cNvPr>
          <p:cNvSpPr>
            <a:spLocks noGrp="1"/>
          </p:cNvSpPr>
          <p:nvPr/>
        </p:nvSpPr>
        <p:spPr>
          <a:xfrm>
            <a:off x="4572000" y="303847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DTOs, Bean Validation, centralized error handling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3688BC-2850-4EF7-B168-746396094276}"/>
              </a:ext>
            </a:extLst>
          </p:cNvPr>
          <p:cNvSpPr>
            <a:spLocks noGrp="1"/>
          </p:cNvSpPr>
          <p:nvPr/>
        </p:nvSpPr>
        <p:spPr>
          <a:xfrm>
            <a:off x="1009650" y="3467100"/>
            <a:ext cx="9753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16F15D-36F9-422A-BCB6-F595121761BE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Developer productivity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BA49C8-2D3A-4E77-85C4-1B2106CE8D9D}"/>
              </a:ext>
            </a:extLst>
          </p:cNvPr>
          <p:cNvSpPr>
            <a:spLocks noGrp="1"/>
          </p:cNvSpPr>
          <p:nvPr/>
        </p:nvSpPr>
        <p:spPr>
          <a:xfrm>
            <a:off x="4572000" y="367665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Spring Boot configuration and repository conventions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F42E44-09AE-40DC-94EF-FAF1D3263668}"/>
              </a:ext>
            </a:extLst>
          </p:cNvPr>
          <p:cNvSpPr>
            <a:spLocks noGrp="1"/>
          </p:cNvSpPr>
          <p:nvPr/>
        </p:nvSpPr>
        <p:spPr>
          <a:xfrm>
            <a:off x="1009650" y="4105275"/>
            <a:ext cx="9753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A9C283-076F-46EA-9DC6-9BD856FF45B8}"/>
              </a:ext>
            </a:extLst>
          </p:cNvPr>
          <p:cNvSpPr>
            <a:spLocks noGrp="1"/>
          </p:cNvSpPr>
          <p:nvPr/>
        </p:nvSpPr>
        <p:spPr>
          <a:xfrm>
            <a:off x="1009650" y="431482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Persistence and schema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36B683-D321-4714-A008-488405FAA309}"/>
              </a:ext>
            </a:extLst>
          </p:cNvPr>
          <p:cNvSpPr>
            <a:spLocks noGrp="1"/>
          </p:cNvSpPr>
          <p:nvPr/>
        </p:nvSpPr>
        <p:spPr>
          <a:xfrm>
            <a:off x="4572000" y="431482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Spring Data JPA and Flyway migrations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DB752C-5604-4D67-8C9C-5861075AC5CA}"/>
              </a:ext>
            </a:extLst>
          </p:cNvPr>
          <p:cNvSpPr>
            <a:spLocks noGrp="1"/>
          </p:cNvSpPr>
          <p:nvPr/>
        </p:nvSpPr>
        <p:spPr>
          <a:xfrm>
            <a:off x="1009650" y="4743450"/>
            <a:ext cx="9753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D0A064-AFF7-4DDE-B83F-843A2C399762}"/>
              </a:ext>
            </a:extLst>
          </p:cNvPr>
          <p:cNvSpPr>
            <a:spLocks noGrp="1"/>
          </p:cNvSpPr>
          <p:nvPr/>
        </p:nvSpPr>
        <p:spPr>
          <a:xfrm>
            <a:off x="1009650" y="49530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Testing and delivery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530586-C70F-4D71-B4F2-3597EC3F6811}"/>
              </a:ext>
            </a:extLst>
          </p:cNvPr>
          <p:cNvSpPr>
            <a:spLocks noGrp="1"/>
          </p:cNvSpPr>
          <p:nvPr/>
        </p:nvSpPr>
        <p:spPr>
          <a:xfrm>
            <a:off x="4572000" y="4953000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0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5F2"/>
                </a:solidFill>
                <a:latin typeface="Aptos"/>
                <a:ea typeface="Aptos"/>
                <a:cs typeface="Aptos"/>
              </a:rPr>
              <a:t>MockMvcTester, Cucumber, Docker profiles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E1FEE1-472D-4D66-8E88-62CBEDEB2D5F}"/>
              </a:ext>
            </a:extLst>
          </p:cNvPr>
          <p:cNvSpPr>
            <a:spLocks noGrp="1"/>
          </p:cNvSpPr>
          <p:nvPr/>
        </p:nvSpPr>
        <p:spPr>
          <a:xfrm>
            <a:off x="1009650" y="5381625"/>
            <a:ext cx="9753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33AEEF-EB6A-4451-A657-3E6DD1DF0916}"/>
              </a:ext>
            </a:extLst>
          </p:cNvPr>
          <p:cNvSpPr>
            <a:spLocks noGrp="1"/>
          </p:cNvSpPr>
          <p:nvPr/>
        </p:nvSpPr>
        <p:spPr>
          <a:xfrm>
            <a:off x="1009650" y="5791200"/>
            <a:ext cx="9144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6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These are implementation choices visible in the repository, not generic framework claims.</a:t>
            </a:r>
          </a:p>
        </p:txBody>
      </p:sp>
    </p:spTree>
    <p:extLst>
      <p:ext uri="{BB962C8B-B14F-4D97-AF65-F5344CB8AC3E}">
        <p14:creationId xmlns:p14="http://schemas.microsoft.com/office/powerpoint/2010/main" val="145539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59AAB32-9D7F-4C0F-BFCF-E8B1B0A0AB7D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F81C02-6E9B-42FB-9199-AEDFD2E318A8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Version and database strategy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D398E7-FB1F-4944-8F20-B6FA9B695ED6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21642" y="1466850"/>
            <a:ext cx="6567317" cy="485775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05800" y="1767389"/>
            <a:ext cx="2857500" cy="16087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C68769-25A3-47AA-8B3D-9BC2B4CD45A3}"/>
              </a:ext>
            </a:extLst>
          </p:cNvPr>
          <p:cNvSpPr>
            <a:spLocks noGrp="1"/>
          </p:cNvSpPr>
          <p:nvPr/>
        </p:nvSpPr>
        <p:spPr>
          <a:xfrm>
            <a:off x="8305800" y="3505200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Flyway history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F5D43C-F673-4701-98BA-0C6D0B0A3604}"/>
              </a:ext>
            </a:extLst>
          </p:cNvPr>
          <p:cNvSpPr>
            <a:spLocks noGrp="1"/>
          </p:cNvSpPr>
          <p:nvPr/>
        </p:nvSpPr>
        <p:spPr>
          <a:xfrm>
            <a:off x="8305800" y="3705225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Applied migrations report success.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28C0A7-08DE-469E-A45A-AE38011803AF}"/>
              </a:ext>
            </a:extLst>
          </p:cNvPr>
          <p:cNvSpPr>
            <a:spLocks noGrp="1"/>
          </p:cNvSpPr>
          <p:nvPr/>
        </p:nvSpPr>
        <p:spPr>
          <a:xfrm>
            <a:off x="8305800" y="42672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6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Java 21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05BBD0-FA26-429C-B88C-CC91C5CDA290}"/>
              </a:ext>
            </a:extLst>
          </p:cNvPr>
          <p:cNvSpPr>
            <a:spLocks noGrp="1"/>
          </p:cNvSpPr>
          <p:nvPr/>
        </p:nvSpPr>
        <p:spPr>
          <a:xfrm>
            <a:off x="8305800" y="462915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6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Spring Boot 4.1.0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63D6AD-301A-40AE-91FA-E4D8182512E1}"/>
              </a:ext>
            </a:extLst>
          </p:cNvPr>
          <p:cNvSpPr>
            <a:spLocks noGrp="1"/>
          </p:cNvSpPr>
          <p:nvPr/>
        </p:nvSpPr>
        <p:spPr>
          <a:xfrm>
            <a:off x="8305800" y="499110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6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PostgreSQL 16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C006E2-25C2-442C-A3BC-B8952FC45E72}"/>
              </a:ext>
            </a:extLst>
          </p:cNvPr>
          <p:cNvSpPr>
            <a:spLocks noGrp="1"/>
          </p:cNvSpPr>
          <p:nvPr/>
        </p:nvSpPr>
        <p:spPr>
          <a:xfrm>
            <a:off x="8305800" y="5429250"/>
            <a:ext cx="28575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350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Flyway changes the database. Hibernate validates the model against it.</a:t>
            </a:r>
          </a:p>
        </p:txBody>
      </p:sp>
    </p:spTree>
    <p:extLst>
      <p:ext uri="{BB962C8B-B14F-4D97-AF65-F5344CB8AC3E}">
        <p14:creationId xmlns:p14="http://schemas.microsoft.com/office/powerpoint/2010/main" val="127763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C1E5313-5DB0-43A9-9982-0607D30F242E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C612D0-3C33-48F7-BA02-22859005AB21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One WAR, two runtime paths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E36E74-9CCF-4246-B5F2-50262E489D3F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981913"/>
            <a:ext cx="7143750" cy="38276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72450" y="1962444"/>
            <a:ext cx="3086100" cy="11424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808C999-B14F-45A5-B097-2FF4A5B43B35}"/>
              </a:ext>
            </a:extLst>
          </p:cNvPr>
          <p:cNvSpPr>
            <a:spLocks noGrp="1"/>
          </p:cNvSpPr>
          <p:nvPr/>
        </p:nvSpPr>
        <p:spPr>
          <a:xfrm>
            <a:off x="8172450" y="3467100"/>
            <a:ext cx="30861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WildFly smoke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1197BB-1ECD-41FD-9ABE-155B6AA95792}"/>
              </a:ext>
            </a:extLst>
          </p:cNvPr>
          <p:cNvSpPr>
            <a:spLocks noGrp="1"/>
          </p:cNvSpPr>
          <p:nvPr/>
        </p:nvSpPr>
        <p:spPr>
          <a:xfrm>
            <a:off x="8172450" y="3667125"/>
            <a:ext cx="30861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The WAR responds through the WildFly runtime.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E716DC-3472-422D-A94C-97C4960AC8AA}"/>
              </a:ext>
            </a:extLst>
          </p:cNvPr>
          <p:cNvSpPr>
            <a:spLocks noGrp="1"/>
          </p:cNvSpPr>
          <p:nvPr/>
        </p:nvSpPr>
        <p:spPr>
          <a:xfrm>
            <a:off x="8172450" y="42672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195941-C470-47EB-8222-649C510BAF60}"/>
              </a:ext>
            </a:extLst>
          </p:cNvPr>
          <p:cNvSpPr>
            <a:spLocks noGrp="1"/>
          </p:cNvSpPr>
          <p:nvPr/>
        </p:nvSpPr>
        <p:spPr>
          <a:xfrm>
            <a:off x="8172450" y="4572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350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Embedded Tomcat + PostgreSQL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15FF18-95E9-4B99-874A-B006C9572186}"/>
              </a:ext>
            </a:extLst>
          </p:cNvPr>
          <p:cNvSpPr>
            <a:spLocks noGrp="1"/>
          </p:cNvSpPr>
          <p:nvPr/>
        </p:nvSpPr>
        <p:spPr>
          <a:xfrm>
            <a:off x="8172450" y="50673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57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Production-like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E8E654-4923-4EE9-8B46-F6E53B0E1C8C}"/>
              </a:ext>
            </a:extLst>
          </p:cNvPr>
          <p:cNvSpPr>
            <a:spLocks noGrp="1"/>
          </p:cNvSpPr>
          <p:nvPr/>
        </p:nvSpPr>
        <p:spPr>
          <a:xfrm>
            <a:off x="8172450" y="53721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350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WildFly + PostgreSQL</a:t>
            </a:r>
          </a:p>
        </p:txBody>
      </p:sp>
    </p:spTree>
    <p:extLst>
      <p:ext uri="{BB962C8B-B14F-4D97-AF65-F5344CB8AC3E}">
        <p14:creationId xmlns:p14="http://schemas.microsoft.com/office/powerpoint/2010/main" val="154524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5081135-95DC-448B-9D0E-63689E698ADC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7DA454-DEE5-4B13-9346-40DCB9B676B7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Validation and delivery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2F03D3-5A0C-4362-AACA-DDFA197AD499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32162" y="1466850"/>
            <a:ext cx="3508000" cy="525708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44662" y="1470195"/>
            <a:ext cx="3633880" cy="273933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C985A7-D0C5-451B-8A20-E0F976C3D46C}"/>
              </a:ext>
            </a:extLst>
          </p:cNvPr>
          <p:cNvSpPr>
            <a:spLocks noGrp="1"/>
          </p:cNvSpPr>
          <p:nvPr/>
        </p:nvSpPr>
        <p:spPr>
          <a:xfrm>
            <a:off x="6844662" y="4333359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REST smoke 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4F742-3ED1-4435-BE4F-E3D520C0EDEC}"/>
              </a:ext>
            </a:extLst>
          </p:cNvPr>
          <p:cNvSpPr>
            <a:spLocks noGrp="1"/>
          </p:cNvSpPr>
          <p:nvPr/>
        </p:nvSpPr>
        <p:spPr>
          <a:xfrm>
            <a:off x="6836135" y="4569243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Core endpoint journeys pass against the running app.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44662" y="4999873"/>
            <a:ext cx="4884990" cy="7189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49DF950-516D-4998-B815-64BA83A5DFFD}"/>
              </a:ext>
            </a:extLst>
          </p:cNvPr>
          <p:cNvSpPr>
            <a:spLocks noGrp="1"/>
          </p:cNvSpPr>
          <p:nvPr/>
        </p:nvSpPr>
        <p:spPr>
          <a:xfrm>
            <a:off x="6997014" y="6218152"/>
            <a:ext cx="2857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JUnit test suite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1FFF2F-AD9D-4519-AA35-E19DB46EF986}"/>
              </a:ext>
            </a:extLst>
          </p:cNvPr>
          <p:cNvSpPr>
            <a:spLocks noGrp="1"/>
          </p:cNvSpPr>
          <p:nvPr/>
        </p:nvSpPr>
        <p:spPr>
          <a:xfrm>
            <a:off x="6997014" y="6418177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Unit and controller tests pass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959298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8CFC7A4-BC13-491A-B96B-596586C2BAD0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4706FF-F5AA-4F6F-8B2E-CCE203C1E1E8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Evidence from the local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D4E04-AC93-4F0D-AD5B-D8E03730D820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78FC10-132F-4F7D-B3C5-75BBFE8D9468}"/>
              </a:ext>
            </a:extLst>
          </p:cNvPr>
          <p:cNvSpPr>
            <a:spLocks noGrp="1"/>
          </p:cNvSpPr>
          <p:nvPr/>
        </p:nvSpPr>
        <p:spPr>
          <a:xfrm>
            <a:off x="800100" y="1695450"/>
            <a:ext cx="102870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72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These screenshots show the tools and runtime paths used to validate the implementation.</a:t>
            </a:r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8116" y="2266950"/>
            <a:ext cx="1601418" cy="1190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5C33ABA-9153-4CCA-B96E-79B1D4CEE8BF}"/>
              </a:ext>
            </a:extLst>
          </p:cNvPr>
          <p:cNvSpPr>
            <a:spLocks noGrp="1"/>
          </p:cNvSpPr>
          <p:nvPr/>
        </p:nvSpPr>
        <p:spPr>
          <a:xfrm>
            <a:off x="838200" y="35337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445F93-7A84-47E6-862B-80FEF5AC9909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The running application exposes the banking endpoints.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43300" y="2467984"/>
            <a:ext cx="2381250" cy="7885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0BDA5C1-F5B6-42B5-9535-4A7678A395BA}"/>
              </a:ext>
            </a:extLst>
          </p:cNvPr>
          <p:cNvSpPr>
            <a:spLocks noGrp="1"/>
          </p:cNvSpPr>
          <p:nvPr/>
        </p:nvSpPr>
        <p:spPr>
          <a:xfrm>
            <a:off x="3543300" y="35337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Cucumber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98CA4C-8319-46E5-9D4C-70280B4E8114}"/>
              </a:ext>
            </a:extLst>
          </p:cNvPr>
          <p:cNvSpPr>
            <a:spLocks noGrp="1"/>
          </p:cNvSpPr>
          <p:nvPr/>
        </p:nvSpPr>
        <p:spPr>
          <a:xfrm>
            <a:off x="3543300" y="37338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Readable behavior scenarios execute against Spring.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75467" y="2266950"/>
            <a:ext cx="2127117" cy="119062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A6CB418-3DB1-4DD4-A666-97C3A7B275F2}"/>
              </a:ext>
            </a:extLst>
          </p:cNvPr>
          <p:cNvSpPr>
            <a:spLocks noGrp="1"/>
          </p:cNvSpPr>
          <p:nvPr/>
        </p:nvSpPr>
        <p:spPr>
          <a:xfrm>
            <a:off x="6248400" y="35337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CI workflow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F0426D-7806-49DA-8C17-97AF821F1EF2}"/>
              </a:ext>
            </a:extLst>
          </p:cNvPr>
          <p:cNvSpPr>
            <a:spLocks noGrp="1"/>
          </p:cNvSpPr>
          <p:nvPr/>
        </p:nvSpPr>
        <p:spPr>
          <a:xfrm>
            <a:off x="6248400" y="37338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Build, tests, Compose, and smoke checks run in sequence.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38200" y="4791304"/>
            <a:ext cx="2381250" cy="56151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C95754E-179E-4171-B03A-DB1F108CA5C1}"/>
              </a:ext>
            </a:extLst>
          </p:cNvPr>
          <p:cNvSpPr>
            <a:spLocks noGrp="1"/>
          </p:cNvSpPr>
          <p:nvPr/>
        </p:nvSpPr>
        <p:spPr>
          <a:xfrm>
            <a:off x="838200" y="57435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WildFly container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AAF41B-1EFA-40DD-BEC9-51890303C7CF}"/>
              </a:ext>
            </a:extLst>
          </p:cNvPr>
          <p:cNvSpPr>
            <a:spLocks noGrp="1"/>
          </p:cNvSpPr>
          <p:nvPr/>
        </p:nvSpPr>
        <p:spPr>
          <a:xfrm>
            <a:off x="838200" y="59436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The production-like runtime starts from the same project.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688376" y="4476750"/>
            <a:ext cx="2091098" cy="11906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89A9F46-EB0C-4E0A-A010-EAF378F3CA3E}"/>
              </a:ext>
            </a:extLst>
          </p:cNvPr>
          <p:cNvSpPr>
            <a:spLocks noGrp="1"/>
          </p:cNvSpPr>
          <p:nvPr/>
        </p:nvSpPr>
        <p:spPr>
          <a:xfrm>
            <a:off x="3543300" y="57435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WildFly instance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D32EC0-4944-4532-B35A-D465757F950F}"/>
              </a:ext>
            </a:extLst>
          </p:cNvPr>
          <p:cNvSpPr>
            <a:spLocks noGrp="1"/>
          </p:cNvSpPr>
          <p:nvPr/>
        </p:nvSpPr>
        <p:spPr>
          <a:xfrm>
            <a:off x="3543300" y="59436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The deployed application is available in the container runtime.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248400" y="4631317"/>
            <a:ext cx="2381250" cy="88149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88B36533-9B83-442D-A4F2-B441D2AD5BDA}"/>
              </a:ext>
            </a:extLst>
          </p:cNvPr>
          <p:cNvSpPr>
            <a:spLocks noGrp="1"/>
          </p:cNvSpPr>
          <p:nvPr/>
        </p:nvSpPr>
        <p:spPr>
          <a:xfrm>
            <a:off x="6248400" y="57435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0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WildFly result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DCAF2B-5396-42D0-A972-C628B577005F}"/>
              </a:ext>
            </a:extLst>
          </p:cNvPr>
          <p:cNvSpPr>
            <a:spLocks noGrp="1"/>
          </p:cNvSpPr>
          <p:nvPr/>
        </p:nvSpPr>
        <p:spPr>
          <a:xfrm>
            <a:off x="6248400" y="5943600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0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A8A2"/>
                </a:solidFill>
                <a:latin typeface="Aptos"/>
                <a:ea typeface="Aptos"/>
                <a:cs typeface="Aptos"/>
              </a:rPr>
              <a:t>The deployed WAR passes the runtime smoke test.</a:t>
            </a:r>
          </a:p>
        </p:txBody>
      </p:sp>
    </p:spTree>
    <p:extLst>
      <p:ext uri="{BB962C8B-B14F-4D97-AF65-F5344CB8AC3E}">
        <p14:creationId xmlns:p14="http://schemas.microsoft.com/office/powerpoint/2010/main" val="1752246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71E488B-082C-47F0-9319-959515B3FF28}"/>
              </a:ext>
            </a:extLst>
          </p:cNvPr>
          <p:cNvSpPr>
            <a:spLocks noGrp="1"/>
          </p:cNvSpPr>
          <p:nvPr/>
        </p:nvSpPr>
        <p:spPr>
          <a:xfrm>
            <a:off x="647700" y="323850"/>
            <a:ext cx="666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975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DIGI BANK / CLOUD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A33F7D-5F7D-4F3A-85DE-D10A802A39CA}"/>
              </a:ext>
            </a:extLst>
          </p:cNvPr>
          <p:cNvSpPr>
            <a:spLocks noGrp="1"/>
          </p:cNvSpPr>
          <p:nvPr/>
        </p:nvSpPr>
        <p:spPr>
          <a:xfrm>
            <a:off x="647700" y="628650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2550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Decision and takeaways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12260B-FBCC-44D3-A36A-E71B1B70571C}"/>
              </a:ext>
            </a:extLst>
          </p:cNvPr>
          <p:cNvSpPr>
            <a:spLocks noGrp="1"/>
          </p:cNvSpPr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3A3A38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382E8-A1E6-4B89-AAF7-9E3D64E929CA}"/>
              </a:ext>
            </a:extLst>
          </p:cNvPr>
          <p:cNvSpPr>
            <a:spLocks noGrp="1"/>
          </p:cNvSpPr>
          <p:nvPr/>
        </p:nvSpPr>
        <p:spPr>
          <a:xfrm>
            <a:off x="990600" y="19050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87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team preserved the banking domain and modular monolith structure.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E3DD7-7E9F-4350-BDD7-4F9DA2228D5A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87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Spring Boot reduced runtime and development friction.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3DEC1-C6D6-47D3-9F39-43F84D2AC19F}"/>
              </a:ext>
            </a:extLst>
          </p:cNvPr>
          <p:cNvSpPr>
            <a:spLocks noGrp="1"/>
          </p:cNvSpPr>
          <p:nvPr/>
        </p:nvSpPr>
        <p:spPr>
          <a:xfrm>
            <a:off x="990600" y="31242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87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The implementation improved correctness, testing, database evolution, and delivery automation.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945D4A-4262-44A4-8FFD-40CAB7DAB70B}"/>
              </a:ext>
            </a:extLst>
          </p:cNvPr>
          <p:cNvSpPr>
            <a:spLocks noGrp="1"/>
          </p:cNvSpPr>
          <p:nvPr/>
        </p:nvSpPr>
        <p:spPr>
          <a:xfrm>
            <a:off x="990600" y="37338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875" b="1">
                <a:solidFill>
                  <a:srgbClr val="F5F5F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F5F2"/>
                </a:solidFill>
                <a:latin typeface="Aptos"/>
                <a:ea typeface="Aptos"/>
                <a:cs typeface="Aptos"/>
              </a:rPr>
              <a:t>WildFly compatibility remains available, so the infrastructure decision is reversible.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1F5908-E09E-4B81-979D-5F2CEE73EF16}"/>
              </a:ext>
            </a:extLst>
          </p:cNvPr>
          <p:cNvSpPr>
            <a:spLocks noGrp="1"/>
          </p:cNvSpPr>
          <p:nvPr/>
        </p:nvSpPr>
        <p:spPr>
          <a:xfrm>
            <a:off x="990600" y="4895850"/>
            <a:ext cx="8763000" cy="38100"/>
          </a:xfrm>
          <a:prstGeom prst="rect">
            <a:avLst/>
          </a:prstGeom>
          <a:solidFill>
            <a:srgbClr val="F5F5F2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00B71A-6585-4764-B0F8-06BBC3F1BE80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9334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buNone/>
              <a:defRPr sz="1950" b="1">
                <a:solidFill>
                  <a:srgbClr val="A8A8A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8A8A2"/>
                </a:solidFill>
                <a:latin typeface="Aptos"/>
                <a:ea typeface="Aptos"/>
                <a:cs typeface="Aptos"/>
              </a:rPr>
              <a:t>Spring Boot gives Digi Bank an application-owned, testable, automation-friendly delivery model while preserving the existing domain and deployment compatibility.</a:t>
            </a:r>
          </a:p>
        </p:txBody>
      </p:sp>
    </p:spTree>
    <p:extLst>
      <p:ext uri="{BB962C8B-B14F-4D97-AF65-F5344CB8AC3E}">
        <p14:creationId xmlns:p14="http://schemas.microsoft.com/office/powerpoint/2010/main" val="473600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20720A-2B7F-4CAF-9B6C-4F265E830FBB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6667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667"/>
          </a:bodyPr>
          <a:lstStyle/>
          <a:p>
            <a:pPr>
              <a:buNone/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WORKSHOP 4 / MICROservices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878A01-00A5-43E3-835F-081BBCC3D922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8096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310"/>
          </a:bodyPr>
          <a:lstStyle/>
          <a:p>
            <a:pPr>
              <a:buNone/>
              <a:defRPr sz="4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From modular monolith</a:t>
            </a:r>
          </a:p>
          <a:p>
            <a:pPr>
              <a:buNone/>
              <a:defRPr sz="4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to microservices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8A4A40-6FA9-4D7F-AB10-02A2FCA6F391}"/>
              </a:ext>
            </a:extLst>
          </p:cNvPr>
          <p:cNvSpPr>
            <a:spLocks noGrp="1"/>
          </p:cNvSpPr>
          <p:nvPr/>
        </p:nvSpPr>
        <p:spPr>
          <a:xfrm>
            <a:off x="723900" y="3190875"/>
            <a:ext cx="8572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667"/>
          </a:bodyPr>
          <a:lstStyle/>
          <a:p>
            <a:pPr>
              <a:buNone/>
              <a:defRPr sz="1875" b="0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Same banking domain. New service ownership and delivery boundaries.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1D462F-52DC-4273-83A3-D28BD986C6D3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10668000" cy="9525"/>
          </a:xfrm>
          <a:prstGeom prst="rect">
            <a:avLst/>
          </a:prstGeom>
          <a:solidFill>
            <a:srgbClr val="F7F7F7"/>
          </a:solidFill>
          <a:ln w="9525">
            <a:solidFill>
              <a:srgbClr val="F7F7F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F61F9-3E02-45B1-9490-4117A04A08D7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>
              <a:buNone/>
              <a:defRPr sz="1500" b="1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Spring Boot  ·  Docker Compose  ·  PostgreSQL  ·  GitHub Actions</a:t>
            </a:r>
          </a:p>
        </p:txBody>
      </p:sp>
    </p:spTree>
    <p:extLst>
      <p:ext uri="{BB962C8B-B14F-4D97-AF65-F5344CB8AC3E}">
        <p14:creationId xmlns:p14="http://schemas.microsoft.com/office/powerpoint/2010/main" val="867183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34F7B2F-BC8D-4DF6-8C14-6B5D5B1A8DAF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>
              <a:buNone/>
              <a:def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MIGRATION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6C7685-1428-4AED-BD7A-09F3C0746A42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Why Digi Bank explores a microservices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95AF1D-C042-494D-9CF8-0ECDB142466A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buNone/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A5E1C-3BCE-4465-88C1-D712CF730091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10001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827"/>
          </a:bodyPr>
          <a:lstStyle/>
          <a:p>
            <a:pPr>
              <a:buNone/>
              <a:defRPr sz="202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The modular monolith proved the domain and core workflows.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18BF8-2A6D-42CC-8C79-32DCD3154A6F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096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6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Workshop 4 changes the ownership model so selected capabilities can evolve and run independently.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00C5B8-55D2-47BC-9894-551F998A7062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10287000" cy="9525"/>
          </a:xfrm>
          <a:prstGeom prst="rect">
            <a:avLst/>
          </a:prstGeom>
          <a:solidFill>
            <a:srgbClr val="F7F7F7"/>
          </a:solidFill>
          <a:ln w="9525">
            <a:solidFill>
              <a:srgbClr val="F7F7F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B6478-3BD8-483C-8B50-BA3120B52954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What stays stable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97AB27-B919-4BC3-B405-192E1A02925D}"/>
              </a:ext>
            </a:extLst>
          </p:cNvPr>
          <p:cNvSpPr>
            <a:spLocks noGrp="1"/>
          </p:cNvSpPr>
          <p:nvPr/>
        </p:nvSpPr>
        <p:spPr>
          <a:xfrm>
            <a:off x="762000" y="4143375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E61BE2-B5A1-4CA0-A3C6-969AEC80A6D7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4533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Customer, account, transaction, compliance, and notification scope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3FFED0-133A-437F-8623-4CA7D195EF7A}"/>
              </a:ext>
            </a:extLst>
          </p:cNvPr>
          <p:cNvSpPr>
            <a:spLocks noGrp="1"/>
          </p:cNvSpPr>
          <p:nvPr/>
        </p:nvSpPr>
        <p:spPr>
          <a:xfrm>
            <a:off x="762000" y="45148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988D0-F618-49B6-8412-5C688D5B2692}"/>
              </a:ext>
            </a:extLst>
          </p:cNvPr>
          <p:cNvSpPr>
            <a:spLocks noGrp="1"/>
          </p:cNvSpPr>
          <p:nvPr/>
        </p:nvSpPr>
        <p:spPr>
          <a:xfrm>
            <a:off x="990600" y="4514850"/>
            <a:ext cx="4533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REST contracts and Spring Boot foundation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BA53E6-0512-4698-B7F0-2193C9753732}"/>
              </a:ext>
            </a:extLst>
          </p:cNvPr>
          <p:cNvSpPr>
            <a:spLocks noGrp="1"/>
          </p:cNvSpPr>
          <p:nvPr/>
        </p:nvSpPr>
        <p:spPr>
          <a:xfrm>
            <a:off x="762000" y="4886325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3A72AC-DA14-401F-A985-36B23954DF76}"/>
              </a:ext>
            </a:extLst>
          </p:cNvPr>
          <p:cNvSpPr>
            <a:spLocks noGrp="1"/>
          </p:cNvSpPr>
          <p:nvPr/>
        </p:nvSpPr>
        <p:spPr>
          <a:xfrm>
            <a:off x="990600" y="4886325"/>
            <a:ext cx="4533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PostgreSQL-backed business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80CFB8-9E3A-495F-B373-42C6C1DFF3D7}"/>
              </a:ext>
            </a:extLst>
          </p:cNvPr>
          <p:cNvSpPr>
            <a:spLocks noGrp="1"/>
          </p:cNvSpPr>
          <p:nvPr/>
        </p:nvSpPr>
        <p:spPr>
          <a:xfrm>
            <a:off x="6477000" y="3714750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What changes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4001B6-0AED-4F6F-8C34-BD03D5024915}"/>
              </a:ext>
            </a:extLst>
          </p:cNvPr>
          <p:cNvSpPr>
            <a:spLocks noGrp="1"/>
          </p:cNvSpPr>
          <p:nvPr/>
        </p:nvSpPr>
        <p:spPr>
          <a:xfrm>
            <a:off x="6477000" y="4143375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5A3008-ABF9-4FE1-827B-3619E21BA1CB}"/>
              </a:ext>
            </a:extLst>
          </p:cNvPr>
          <p:cNvSpPr>
            <a:spLocks noGrp="1"/>
          </p:cNvSpPr>
          <p:nvPr/>
        </p:nvSpPr>
        <p:spPr>
          <a:xfrm>
            <a:off x="6705600" y="4143375"/>
            <a:ext cx="4533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Service and database ownership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F3D5F5-8FEE-49D9-9515-EC5C9F25738C}"/>
              </a:ext>
            </a:extLst>
          </p:cNvPr>
          <p:cNvSpPr>
            <a:spLocks noGrp="1"/>
          </p:cNvSpPr>
          <p:nvPr/>
        </p:nvSpPr>
        <p:spPr>
          <a:xfrm>
            <a:off x="6477000" y="45148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CA442D-CA88-49B3-8600-5C51A93E6694}"/>
              </a:ext>
            </a:extLst>
          </p:cNvPr>
          <p:cNvSpPr>
            <a:spLocks noGrp="1"/>
          </p:cNvSpPr>
          <p:nvPr/>
        </p:nvSpPr>
        <p:spPr>
          <a:xfrm>
            <a:off x="6705600" y="4514850"/>
            <a:ext cx="4533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Gateway-based external access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8E13B7-C834-4E1D-B92D-B91C966EFB63}"/>
              </a:ext>
            </a:extLst>
          </p:cNvPr>
          <p:cNvSpPr>
            <a:spLocks noGrp="1"/>
          </p:cNvSpPr>
          <p:nvPr/>
        </p:nvSpPr>
        <p:spPr>
          <a:xfrm>
            <a:off x="6477000" y="4886325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3FDC17-464A-445F-BFD6-F6A728124818}"/>
              </a:ext>
            </a:extLst>
          </p:cNvPr>
          <p:cNvSpPr>
            <a:spLocks noGrp="1"/>
          </p:cNvSpPr>
          <p:nvPr/>
        </p:nvSpPr>
        <p:spPr>
          <a:xfrm>
            <a:off x="6705600" y="4886325"/>
            <a:ext cx="45339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Distributed coordination and resilience</a:t>
            </a:r>
          </a:p>
        </p:txBody>
      </p:sp>
    </p:spTree>
    <p:extLst>
      <p:ext uri="{BB962C8B-B14F-4D97-AF65-F5344CB8AC3E}">
        <p14:creationId xmlns:p14="http://schemas.microsoft.com/office/powerpoint/2010/main" val="32545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913A7C2-A09B-40A6-BB6B-ED578912C68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>
              <a:buNone/>
              <a:def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MSA TOPOLOGY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C4074-5F75-4102-AFDA-9D6A76D8E154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Business capabilities become standalone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C2991F-9047-4B1B-95E2-54EDF09D3D3D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buNone/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pic>
        <p:nvPicPr>
          <p:cNvPr id="23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0366" y="1149905"/>
            <a:ext cx="7000875" cy="2919889"/>
          </a:xfrm>
          <a:prstGeom prst="rect">
            <a:avLst/>
          </a:prstGeom>
        </p:spPr>
      </p:pic>
      <p:pic>
        <p:nvPicPr>
          <p:cNvPr id="24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90415" y="4315274"/>
            <a:ext cx="5160778" cy="229308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5776EA-DB8C-46A2-AF8A-E2B8EA0FDAF0}"/>
              </a:ext>
            </a:extLst>
          </p:cNvPr>
          <p:cNvSpPr>
            <a:spLocks noGrp="1"/>
          </p:cNvSpPr>
          <p:nvPr/>
        </p:nvSpPr>
        <p:spPr>
          <a:xfrm>
            <a:off x="7953375" y="138112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89"/>
          </a:bodyPr>
          <a:lstStyle/>
          <a:p>
            <a:pPr>
              <a:buNone/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88FBE4-9D91-4244-B81C-0CB0B1741A31}"/>
              </a:ext>
            </a:extLst>
          </p:cNvPr>
          <p:cNvSpPr>
            <a:spLocks noGrp="1"/>
          </p:cNvSpPr>
          <p:nvPr/>
        </p:nvSpPr>
        <p:spPr>
          <a:xfrm>
            <a:off x="7953375" y="19050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642"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A91583-03CD-4417-B0B6-B5C2E4F902E8}"/>
              </a:ext>
            </a:extLst>
          </p:cNvPr>
          <p:cNvSpPr>
            <a:spLocks noGrp="1"/>
          </p:cNvSpPr>
          <p:nvPr/>
        </p:nvSpPr>
        <p:spPr>
          <a:xfrm>
            <a:off x="8181975" y="190500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6667"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gateway is the single external entry point.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66E22F-8208-4BF1-9B58-841061C99F59}"/>
              </a:ext>
            </a:extLst>
          </p:cNvPr>
          <p:cNvSpPr>
            <a:spLocks noGrp="1"/>
          </p:cNvSpPr>
          <p:nvPr/>
        </p:nvSpPr>
        <p:spPr>
          <a:xfrm>
            <a:off x="7953375" y="23812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642"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35A017-3063-40DC-BE5A-E7E6CC8659F0}"/>
              </a:ext>
            </a:extLst>
          </p:cNvPr>
          <p:cNvSpPr>
            <a:spLocks noGrp="1"/>
          </p:cNvSpPr>
          <p:nvPr/>
        </p:nvSpPr>
        <p:spPr>
          <a:xfrm>
            <a:off x="8181975" y="238125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707"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Each business capability runs as its own service.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34CD84-8F16-47E2-B403-E87CB3FA44AC}"/>
              </a:ext>
            </a:extLst>
          </p:cNvPr>
          <p:cNvSpPr>
            <a:spLocks noGrp="1"/>
          </p:cNvSpPr>
          <p:nvPr/>
        </p:nvSpPr>
        <p:spPr>
          <a:xfrm>
            <a:off x="7953375" y="28575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642"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3BFC61-10BA-4AF1-A93F-EDF084662E97}"/>
              </a:ext>
            </a:extLst>
          </p:cNvPr>
          <p:cNvSpPr>
            <a:spLocks noGrp="1"/>
          </p:cNvSpPr>
          <p:nvPr/>
        </p:nvSpPr>
        <p:spPr>
          <a:xfrm>
            <a:off x="8181975" y="285750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4142"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Each persistence-owning service has its own database.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DD1226-96A2-4141-8214-EC53ABAFDC92}"/>
              </a:ext>
            </a:extLst>
          </p:cNvPr>
          <p:cNvSpPr>
            <a:spLocks noGrp="1"/>
          </p:cNvSpPr>
          <p:nvPr/>
        </p:nvSpPr>
        <p:spPr>
          <a:xfrm>
            <a:off x="7953375" y="33337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0642"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B0A613-2285-48CA-8147-FD90173EA08A}"/>
              </a:ext>
            </a:extLst>
          </p:cNvPr>
          <p:cNvSpPr>
            <a:spLocks noGrp="1"/>
          </p:cNvSpPr>
          <p:nvPr/>
        </p:nvSpPr>
        <p:spPr>
          <a:xfrm>
            <a:off x="8181975" y="333375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46937"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Discovery and configuration remain lightweight workshop platform services.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95CC1-23E1-4238-B400-6B0126D95464}"/>
              </a:ext>
            </a:extLst>
          </p:cNvPr>
          <p:cNvSpPr>
            <a:spLocks noGrp="1"/>
          </p:cNvSpPr>
          <p:nvPr/>
        </p:nvSpPr>
        <p:spPr>
          <a:xfrm>
            <a:off x="7953375" y="442912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89"/>
          </a:bodyPr>
          <a:lstStyle/>
          <a:p>
            <a:pPr>
              <a:buNone/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Why this approach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42CF4C-B748-49F3-8F95-9B94072E26FC}"/>
              </a:ext>
            </a:extLst>
          </p:cNvPr>
          <p:cNvSpPr>
            <a:spLocks noGrp="1"/>
          </p:cNvSpPr>
          <p:nvPr/>
        </p:nvSpPr>
        <p:spPr>
          <a:xfrm>
            <a:off x="7953375" y="4810125"/>
            <a:ext cx="33813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750"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We gain independent ownership and deployment boundaries without changing the banking domain or introducing unnecessary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119457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CB81FD4-D643-4537-B7C1-1625EED4AA7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>
              <a:buNone/>
              <a:def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REQUEST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DEC874-5941-4BCD-8285-224216C9C4E5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A transaction crosses explicit service boundaries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BF46CA-4C7D-41C8-850C-25F538C70E73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buNone/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pic>
        <p:nvPicPr>
          <p:cNvPr id="23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3978" y="1104900"/>
            <a:ext cx="7000875" cy="3752713"/>
          </a:xfrm>
          <a:prstGeom prst="rect">
            <a:avLst/>
          </a:prstGeom>
        </p:spPr>
      </p:pic>
      <p:pic>
        <p:nvPicPr>
          <p:cNvPr id="24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5375" y="4810124"/>
            <a:ext cx="5231218" cy="20478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265DFD-0357-4132-9AA2-591B8CB6BE00}"/>
              </a:ext>
            </a:extLst>
          </p:cNvPr>
          <p:cNvSpPr>
            <a:spLocks noGrp="1"/>
          </p:cNvSpPr>
          <p:nvPr/>
        </p:nvSpPr>
        <p:spPr>
          <a:xfrm>
            <a:off x="7953375" y="138112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89"/>
          </a:bodyPr>
          <a:lstStyle/>
          <a:p>
            <a:pPr>
              <a:buNone/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How to read the 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0EB6E-7BB1-4230-9318-B30F8BE03CCD}"/>
              </a:ext>
            </a:extLst>
          </p:cNvPr>
          <p:cNvSpPr>
            <a:spLocks noGrp="1"/>
          </p:cNvSpPr>
          <p:nvPr/>
        </p:nvSpPr>
        <p:spPr>
          <a:xfrm>
            <a:off x="7953375" y="19050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AEF9A5-5B72-4FB4-90F4-629F96053D63}"/>
              </a:ext>
            </a:extLst>
          </p:cNvPr>
          <p:cNvSpPr>
            <a:spLocks noGrp="1"/>
          </p:cNvSpPr>
          <p:nvPr/>
        </p:nvSpPr>
        <p:spPr>
          <a:xfrm>
            <a:off x="8181975" y="190500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client calls the gateway, not an internal service.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45A806-4585-4CCE-9D44-034136F7A215}"/>
              </a:ext>
            </a:extLst>
          </p:cNvPr>
          <p:cNvSpPr>
            <a:spLocks noGrp="1"/>
          </p:cNvSpPr>
          <p:nvPr/>
        </p:nvSpPr>
        <p:spPr>
          <a:xfrm>
            <a:off x="7953375" y="23812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C1FE81-7F31-4C48-9568-06DB5DEBDCB7}"/>
              </a:ext>
            </a:extLst>
          </p:cNvPr>
          <p:cNvSpPr>
            <a:spLocks noGrp="1"/>
          </p:cNvSpPr>
          <p:nvPr/>
        </p:nvSpPr>
        <p:spPr>
          <a:xfrm>
            <a:off x="8181975" y="238125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transaction service coordinates compliance and account calls.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CA9F16-5DE1-4944-8753-72A4E7696135}"/>
              </a:ext>
            </a:extLst>
          </p:cNvPr>
          <p:cNvSpPr>
            <a:spLocks noGrp="1"/>
          </p:cNvSpPr>
          <p:nvPr/>
        </p:nvSpPr>
        <p:spPr>
          <a:xfrm>
            <a:off x="7953375" y="28575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E9DA24-460A-483A-9BA3-D36174B74806}"/>
              </a:ext>
            </a:extLst>
          </p:cNvPr>
          <p:cNvSpPr>
            <a:spLocks noGrp="1"/>
          </p:cNvSpPr>
          <p:nvPr/>
        </p:nvSpPr>
        <p:spPr>
          <a:xfrm>
            <a:off x="8181975" y="285750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transaction database remains owned by the transaction service.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C842C-86B8-4B1C-8E31-FB116BD19707}"/>
              </a:ext>
            </a:extLst>
          </p:cNvPr>
          <p:cNvSpPr>
            <a:spLocks noGrp="1"/>
          </p:cNvSpPr>
          <p:nvPr/>
        </p:nvSpPr>
        <p:spPr>
          <a:xfrm>
            <a:off x="7953375" y="33337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E02EC4-37F4-4650-8B13-A8C99BFAA59D}"/>
              </a:ext>
            </a:extLst>
          </p:cNvPr>
          <p:cNvSpPr>
            <a:spLocks noGrp="1"/>
          </p:cNvSpPr>
          <p:nvPr/>
        </p:nvSpPr>
        <p:spPr>
          <a:xfrm>
            <a:off x="8181975" y="333375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Notification is a downstream concern, not part of the external contract.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EC39D-2398-4DF1-A0B8-3DB2B3351461}"/>
              </a:ext>
            </a:extLst>
          </p:cNvPr>
          <p:cNvSpPr>
            <a:spLocks noGrp="1"/>
          </p:cNvSpPr>
          <p:nvPr/>
        </p:nvSpPr>
        <p:spPr>
          <a:xfrm>
            <a:off x="7953375" y="4429125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89"/>
          </a:bodyPr>
          <a:lstStyle/>
          <a:p>
            <a:pPr>
              <a:buNone/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023BFE-E5C0-444C-B1B2-0759C9E630F6}"/>
              </a:ext>
            </a:extLst>
          </p:cNvPr>
          <p:cNvSpPr>
            <a:spLocks noGrp="1"/>
          </p:cNvSpPr>
          <p:nvPr/>
        </p:nvSpPr>
        <p:spPr>
          <a:xfrm>
            <a:off x="7953375" y="4810125"/>
            <a:ext cx="3381375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3750"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diagram makes network calls, failure points, and coordination responsibilities visible instead of hiding them inside one process.</a:t>
            </a:r>
          </a:p>
        </p:txBody>
      </p:sp>
    </p:spTree>
    <p:extLst>
      <p:ext uri="{BB962C8B-B14F-4D97-AF65-F5344CB8AC3E}">
        <p14:creationId xmlns:p14="http://schemas.microsoft.com/office/powerpoint/2010/main" val="6682733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6056EE6-43AD-4705-88D2-AD4F7E64DFD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>
              <a:buNone/>
              <a:def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DISTRIBUTED PATTERNS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01BD26-98E6-4A9A-9711-1E6AFD5C4195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19"/>
          </a:bodyPr>
          <a:lstStyle/>
          <a:p>
            <a:pPr>
              <a:buNone/>
              <a:def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CQRS, Saga, and Circuit Breaker address distributed-system problems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FE3EBA-EAB3-488D-8A69-97DBF2B80BE1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buNone/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pic>
        <p:nvPicPr>
          <p:cNvPr id="23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0531" y="1333500"/>
            <a:ext cx="5221814" cy="4476750"/>
          </a:xfrm>
          <a:prstGeom prst="rect">
            <a:avLst/>
          </a:prstGeom>
        </p:spPr>
      </p:pic>
      <p:pic>
        <p:nvPicPr>
          <p:cNvPr id="24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521" y="4569776"/>
            <a:ext cx="2981640" cy="217923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DEACFB-8E5C-426B-8673-DEA106A50897}"/>
              </a:ext>
            </a:extLst>
          </p:cNvPr>
          <p:cNvSpPr>
            <a:spLocks noGrp="1"/>
          </p:cNvSpPr>
          <p:nvPr/>
        </p:nvSpPr>
        <p:spPr>
          <a:xfrm>
            <a:off x="7953375" y="13811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89"/>
          </a:bodyPr>
          <a:lstStyle/>
          <a:p>
            <a:pPr>
              <a:buNone/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The patterns solve different problems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8265EA-185D-416D-9EBF-CB4417665717}"/>
              </a:ext>
            </a:extLst>
          </p:cNvPr>
          <p:cNvSpPr>
            <a:spLocks noGrp="1"/>
          </p:cNvSpPr>
          <p:nvPr/>
        </p:nvSpPr>
        <p:spPr>
          <a:xfrm>
            <a:off x="7953375" y="19050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C2CA-CA50-4FE3-9CC2-CAB4B41E825E}"/>
              </a:ext>
            </a:extLst>
          </p:cNvPr>
          <p:cNvSpPr>
            <a:spLocks noGrp="1"/>
          </p:cNvSpPr>
          <p:nvPr/>
        </p:nvSpPr>
        <p:spPr>
          <a:xfrm>
            <a:off x="8181975" y="190500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CQRS separates transaction commands from read queries.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5C8BAA-CDEC-4DD4-B8F9-BE18DABC133B}"/>
              </a:ext>
            </a:extLst>
          </p:cNvPr>
          <p:cNvSpPr>
            <a:spLocks noGrp="1"/>
          </p:cNvSpPr>
          <p:nvPr/>
        </p:nvSpPr>
        <p:spPr>
          <a:xfrm>
            <a:off x="7953375" y="23812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1CE763-9944-44D7-8ADD-90D695709E4C}"/>
              </a:ext>
            </a:extLst>
          </p:cNvPr>
          <p:cNvSpPr>
            <a:spLocks noGrp="1"/>
          </p:cNvSpPr>
          <p:nvPr/>
        </p:nvSpPr>
        <p:spPr>
          <a:xfrm>
            <a:off x="8181975" y="238125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Saga coordinates transfer steps and compensates when a later step fails.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E5CE49-32D6-49A5-AA5D-DE48C59799C5}"/>
              </a:ext>
            </a:extLst>
          </p:cNvPr>
          <p:cNvSpPr>
            <a:spLocks noGrp="1"/>
          </p:cNvSpPr>
          <p:nvPr/>
        </p:nvSpPr>
        <p:spPr>
          <a:xfrm>
            <a:off x="7953375" y="28575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BC3184-71C3-41DF-8893-7A7FE050A36A}"/>
              </a:ext>
            </a:extLst>
          </p:cNvPr>
          <p:cNvSpPr>
            <a:spLocks noGrp="1"/>
          </p:cNvSpPr>
          <p:nvPr/>
        </p:nvSpPr>
        <p:spPr>
          <a:xfrm>
            <a:off x="8181975" y="285750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Circuit Breaker protects calls to unavailable downstream services.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9D0A7C-A2C2-4100-89E6-7E50B1C6869D}"/>
              </a:ext>
            </a:extLst>
          </p:cNvPr>
          <p:cNvSpPr>
            <a:spLocks noGrp="1"/>
          </p:cNvSpPr>
          <p:nvPr/>
        </p:nvSpPr>
        <p:spPr>
          <a:xfrm>
            <a:off x="7953375" y="33337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826EC1-AEF1-4B13-902F-F24023E6663B}"/>
              </a:ext>
            </a:extLst>
          </p:cNvPr>
          <p:cNvSpPr>
            <a:spLocks noGrp="1"/>
          </p:cNvSpPr>
          <p:nvPr/>
        </p:nvSpPr>
        <p:spPr>
          <a:xfrm>
            <a:off x="8181975" y="333375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Notification is isolated behind a resilient integration path.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CE3D51-03F7-4E37-8A8B-3C96ED0FB241}"/>
              </a:ext>
            </a:extLst>
          </p:cNvPr>
          <p:cNvSpPr>
            <a:spLocks noGrp="1"/>
          </p:cNvSpPr>
          <p:nvPr/>
        </p:nvSpPr>
        <p:spPr>
          <a:xfrm>
            <a:off x="7953375" y="46672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89"/>
          </a:bodyPr>
          <a:lstStyle/>
          <a:p>
            <a:pPr>
              <a:buNone/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Why they are needed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D84651-CCE0-426C-A637-1F8E4787E434}"/>
              </a:ext>
            </a:extLst>
          </p:cNvPr>
          <p:cNvSpPr>
            <a:spLocks noGrp="1"/>
          </p:cNvSpPr>
          <p:nvPr/>
        </p:nvSpPr>
        <p:spPr>
          <a:xfrm>
            <a:off x="7953375" y="5048250"/>
            <a:ext cx="33813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612"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Once calls cross process boundaries, partial failure is normal. These patterns make consistency, fallback, and recovery explicit.</a:t>
            </a:r>
          </a:p>
        </p:txBody>
      </p:sp>
    </p:spTree>
    <p:extLst>
      <p:ext uri="{BB962C8B-B14F-4D97-AF65-F5344CB8AC3E}">
        <p14:creationId xmlns:p14="http://schemas.microsoft.com/office/powerpoint/2010/main" val="2088436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B2BFEE0-4190-4F9E-BD4E-BEDC27C77B3B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>
              <a:buNone/>
              <a:def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SERVICE DISCOVERY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08993E-D6A8-4D66-BF8D-FD1D99048B50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The gateway resolves services through a lightweight registry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FD5567-8044-49D4-B3CD-D7B5757D68AC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buNone/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pic>
        <p:nvPicPr>
          <p:cNvPr id="23" name="Picture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9588" y="1202961"/>
            <a:ext cx="7000875" cy="2500824"/>
          </a:xfrm>
          <a:prstGeom prst="rect">
            <a:avLst/>
          </a:prstGeom>
        </p:spPr>
      </p:pic>
      <p:pic>
        <p:nvPicPr>
          <p:cNvPr id="24" name="Picture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8338" y="3829050"/>
            <a:ext cx="6741816" cy="30289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B40DD2-5D64-4DFC-9610-CC0B6D8CFF94}"/>
              </a:ext>
            </a:extLst>
          </p:cNvPr>
          <p:cNvSpPr>
            <a:spLocks noGrp="1"/>
          </p:cNvSpPr>
          <p:nvPr/>
        </p:nvSpPr>
        <p:spPr>
          <a:xfrm>
            <a:off x="7953375" y="1381125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89"/>
          </a:bodyPr>
          <a:lstStyle/>
          <a:p>
            <a:pPr>
              <a:buNone/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What happens at runtime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C55035-9D10-42B8-ADC1-E80007FC7736}"/>
              </a:ext>
            </a:extLst>
          </p:cNvPr>
          <p:cNvSpPr>
            <a:spLocks noGrp="1"/>
          </p:cNvSpPr>
          <p:nvPr/>
        </p:nvSpPr>
        <p:spPr>
          <a:xfrm>
            <a:off x="7953375" y="19050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905C5A-C489-46FB-A230-A74786305509}"/>
              </a:ext>
            </a:extLst>
          </p:cNvPr>
          <p:cNvSpPr>
            <a:spLocks noGrp="1"/>
          </p:cNvSpPr>
          <p:nvPr/>
        </p:nvSpPr>
        <p:spPr>
          <a:xfrm>
            <a:off x="8181975" y="190500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Each service registers its address when it starts.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6BF760-60EC-43E9-AB27-5447FECCA7E2}"/>
              </a:ext>
            </a:extLst>
          </p:cNvPr>
          <p:cNvSpPr>
            <a:spLocks noGrp="1"/>
          </p:cNvSpPr>
          <p:nvPr/>
        </p:nvSpPr>
        <p:spPr>
          <a:xfrm>
            <a:off x="7953375" y="23812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8E0003-91E8-4E5A-801F-BF0B00A4BB6E}"/>
              </a:ext>
            </a:extLst>
          </p:cNvPr>
          <p:cNvSpPr>
            <a:spLocks noGrp="1"/>
          </p:cNvSpPr>
          <p:nvPr/>
        </p:nvSpPr>
        <p:spPr>
          <a:xfrm>
            <a:off x="8181975" y="238125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gateway looks up a service before forwarding a request.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8F7FE8-18CE-4915-A590-B7F8CA9425A3}"/>
              </a:ext>
            </a:extLst>
          </p:cNvPr>
          <p:cNvSpPr>
            <a:spLocks noGrp="1"/>
          </p:cNvSpPr>
          <p:nvPr/>
        </p:nvSpPr>
        <p:spPr>
          <a:xfrm>
            <a:off x="7953375" y="285750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D7DB95-E537-46E5-80EE-5CA094B47BBF}"/>
              </a:ext>
            </a:extLst>
          </p:cNvPr>
          <p:cNvSpPr>
            <a:spLocks noGrp="1"/>
          </p:cNvSpPr>
          <p:nvPr/>
        </p:nvSpPr>
        <p:spPr>
          <a:xfrm>
            <a:off x="8181975" y="2857500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registry prevents service locations from being hard-coded in the gateway.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452230-D15C-4452-9D30-CCFAF2E7C8A2}"/>
              </a:ext>
            </a:extLst>
          </p:cNvPr>
          <p:cNvSpPr>
            <a:spLocks noGrp="1"/>
          </p:cNvSpPr>
          <p:nvPr/>
        </p:nvSpPr>
        <p:spPr>
          <a:xfrm>
            <a:off x="7953375" y="3333750"/>
            <a:ext cx="190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EEF05E-A25B-4F4B-8F0F-DFA40CF399D2}"/>
              </a:ext>
            </a:extLst>
          </p:cNvPr>
          <p:cNvSpPr>
            <a:spLocks noGrp="1"/>
          </p:cNvSpPr>
          <p:nvPr/>
        </p:nvSpPr>
        <p:spPr>
          <a:xfrm>
            <a:off x="8086725" y="3590925"/>
            <a:ext cx="32004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Docker Compose provides the local service host and startup order.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1B4627-3ECC-46B3-9D10-CACC49A3273B}"/>
              </a:ext>
            </a:extLst>
          </p:cNvPr>
          <p:cNvSpPr>
            <a:spLocks noGrp="1"/>
          </p:cNvSpPr>
          <p:nvPr/>
        </p:nvSpPr>
        <p:spPr>
          <a:xfrm>
            <a:off x="7953375" y="46672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889"/>
          </a:bodyPr>
          <a:lstStyle/>
          <a:p>
            <a:pPr>
              <a:buNone/>
              <a:def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Why this implementation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85E675-9D8C-4448-8992-D820E4EB7AC3}"/>
              </a:ext>
            </a:extLst>
          </p:cNvPr>
          <p:cNvSpPr>
            <a:spLocks noGrp="1"/>
          </p:cNvSpPr>
          <p:nvPr/>
        </p:nvSpPr>
        <p:spPr>
          <a:xfrm>
            <a:off x="7953375" y="5048250"/>
            <a:ext cx="3381375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192"/>
          </a:bodyPr>
          <a:lstStyle/>
          <a:p>
            <a:pPr>
              <a:buNone/>
              <a:def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workshop demonstrates the boundary without adding Eureka or Spring Cloud infrastructure that is outside the current scope.</a:t>
            </a:r>
          </a:p>
        </p:txBody>
      </p:sp>
    </p:spTree>
    <p:extLst>
      <p:ext uri="{BB962C8B-B14F-4D97-AF65-F5344CB8AC3E}">
        <p14:creationId xmlns:p14="http://schemas.microsoft.com/office/powerpoint/2010/main" val="453904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85C6494-05AE-4546-9139-BE2AEA0052C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47625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>
              <a:buNone/>
              <a:def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C5461-8F0E-46C6-8062-90974789C81A}"/>
              </a:ext>
            </a:extLst>
          </p:cNvPr>
          <p:cNvSpPr>
            <a:spLocks noGrp="1"/>
          </p:cNvSpPr>
          <p:nvPr/>
        </p:nvSpPr>
        <p:spPr>
          <a:xfrm>
            <a:off x="609600" y="542925"/>
            <a:ext cx="10287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What the validation proves about the MSA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60AECB-94CD-4CD6-80B1-563749AF4EB1}"/>
              </a:ext>
            </a:extLst>
          </p:cNvPr>
          <p:cNvSpPr>
            <a:spLocks noGrp="1"/>
          </p:cNvSpPr>
          <p:nvPr/>
        </p:nvSpPr>
        <p:spPr>
          <a:xfrm>
            <a:off x="11239500" y="34290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buNone/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pic>
        <p:nvPicPr>
          <p:cNvPr id="21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35255" y="1148759"/>
            <a:ext cx="3984496" cy="53819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BE27ED-7430-4CFD-B1B5-87F4DA93592B}"/>
              </a:ext>
            </a:extLst>
          </p:cNvPr>
          <p:cNvSpPr>
            <a:spLocks noGrp="1"/>
          </p:cNvSpPr>
          <p:nvPr/>
        </p:nvSpPr>
        <p:spPr>
          <a:xfrm>
            <a:off x="6572250" y="1381125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913"/>
          </a:bodyPr>
          <a:lstStyle/>
          <a:p>
            <a:pPr>
              <a:buNone/>
              <a:defRPr sz="172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We validate the architecture at four levels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504D91-9BB0-47D6-AFFE-886E29BAA252}"/>
              </a:ext>
            </a:extLst>
          </p:cNvPr>
          <p:cNvSpPr>
            <a:spLocks noGrp="1"/>
          </p:cNvSpPr>
          <p:nvPr/>
        </p:nvSpPr>
        <p:spPr>
          <a:xfrm>
            <a:off x="6667500" y="2047875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810A3-C5E0-475D-8087-E7A0CC1A14A5}"/>
              </a:ext>
            </a:extLst>
          </p:cNvPr>
          <p:cNvSpPr>
            <a:spLocks noGrp="1"/>
          </p:cNvSpPr>
          <p:nvPr/>
        </p:nvSpPr>
        <p:spPr>
          <a:xfrm>
            <a:off x="7143750" y="204787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Build and service tests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CFE830-143B-4312-AF96-0AC632AD73F6}"/>
              </a:ext>
            </a:extLst>
          </p:cNvPr>
          <p:cNvSpPr>
            <a:spLocks noGrp="1"/>
          </p:cNvSpPr>
          <p:nvPr/>
        </p:nvSpPr>
        <p:spPr>
          <a:xfrm>
            <a:off x="7143750" y="2362200"/>
            <a:ext cx="3905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individual services compile and their business behavior is tested.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03EA9-4CBB-40E7-A56F-DE4737F7D4C2}"/>
              </a:ext>
            </a:extLst>
          </p:cNvPr>
          <p:cNvSpPr>
            <a:spLocks noGrp="1"/>
          </p:cNvSpPr>
          <p:nvPr/>
        </p:nvSpPr>
        <p:spPr>
          <a:xfrm>
            <a:off x="6667500" y="3095625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991B9D-CA2F-48CE-B9E0-C2C595B3160E}"/>
              </a:ext>
            </a:extLst>
          </p:cNvPr>
          <p:cNvSpPr>
            <a:spLocks noGrp="1"/>
          </p:cNvSpPr>
          <p:nvPr/>
        </p:nvSpPr>
        <p:spPr>
          <a:xfrm>
            <a:off x="7143750" y="309562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Runtime topology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13A7C-FAE8-4D9D-8773-C76944B6F9CE}"/>
              </a:ext>
            </a:extLst>
          </p:cNvPr>
          <p:cNvSpPr>
            <a:spLocks noGrp="1"/>
          </p:cNvSpPr>
          <p:nvPr/>
        </p:nvSpPr>
        <p:spPr>
          <a:xfrm>
            <a:off x="7143750" y="3409950"/>
            <a:ext cx="3905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Compose startup and smoke checks prove that the gateway, services, registry, and databases work together.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E8E46C-24E4-492A-9D7B-2C210271A826}"/>
              </a:ext>
            </a:extLst>
          </p:cNvPr>
          <p:cNvSpPr>
            <a:spLocks noGrp="1"/>
          </p:cNvSpPr>
          <p:nvPr/>
        </p:nvSpPr>
        <p:spPr>
          <a:xfrm>
            <a:off x="6667500" y="4333875"/>
            <a:ext cx="3333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428059-B195-4EA3-80AF-C40F1FC3041A}"/>
              </a:ext>
            </a:extLst>
          </p:cNvPr>
          <p:cNvSpPr>
            <a:spLocks noGrp="1"/>
          </p:cNvSpPr>
          <p:nvPr/>
        </p:nvSpPr>
        <p:spPr>
          <a:xfrm>
            <a:off x="7143750" y="4333875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API and security checks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E67521-A19C-4B6E-9DF3-13E55CCA38DF}"/>
              </a:ext>
            </a:extLst>
          </p:cNvPr>
          <p:cNvSpPr>
            <a:spLocks noGrp="1"/>
          </p:cNvSpPr>
          <p:nvPr/>
        </p:nvSpPr>
        <p:spPr>
          <a:xfrm>
            <a:off x="7143750" y="4648200"/>
            <a:ext cx="3905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Newman verifies API assertions; ZAP checks the exposed application for common web risks.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0BFDE3-518E-48F3-A8AD-EF763FBE8B0B}"/>
              </a:ext>
            </a:extLst>
          </p:cNvPr>
          <p:cNvSpPr>
            <a:spLocks noGrp="1"/>
          </p:cNvSpPr>
          <p:nvPr/>
        </p:nvSpPr>
        <p:spPr>
          <a:xfrm>
            <a:off x="6572250" y="5953125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4950"/>
          </a:bodyPr>
          <a:lstStyle/>
          <a:p>
            <a:pPr>
              <a:buNone/>
              <a:defRPr sz="1125" b="0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The screenshots are supporting evidence for the presenter, not the explanation itself.</a:t>
            </a:r>
          </a:p>
        </p:txBody>
      </p:sp>
    </p:spTree>
    <p:extLst>
      <p:ext uri="{BB962C8B-B14F-4D97-AF65-F5344CB8AC3E}">
        <p14:creationId xmlns:p14="http://schemas.microsoft.com/office/powerpoint/2010/main" val="1729533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24D7C1E-7D77-46EF-8091-9805B844E1CD}"/>
              </a:ext>
            </a:extLst>
          </p:cNvPr>
          <p:cNvSpPr>
            <a:spLocks noGrp="1"/>
          </p:cNvSpPr>
          <p:nvPr/>
        </p:nvSpPr>
        <p:spPr>
          <a:xfrm>
            <a:off x="723900" y="714375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714"/>
          </a:bodyPr>
          <a:lstStyle/>
          <a:p>
            <a:pPr>
              <a:buNone/>
              <a:def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DBDBD"/>
                </a:solidFill>
                <a:latin typeface="Helvetica Neue"/>
                <a:ea typeface="Helvetica Neue"/>
                <a:cs typeface="Helvetica Neue"/>
              </a:rPr>
              <a:t>WORKSHOP 4 / TAKEAWAY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C38C73-34F8-401A-9389-892121451179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103822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8564"/>
          </a:bodyPr>
          <a:lstStyle/>
          <a:p>
            <a:pPr>
              <a:buNone/>
              <a:defRPr sz="28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7F7F7"/>
                </a:solidFill>
                <a:latin typeface="Helvetica Neue"/>
                <a:ea typeface="Helvetica Neue"/>
                <a:cs typeface="Helvetica Neue"/>
              </a:rPr>
              <a:t>We preserved the banking domain and introduced independent service boundaries, explicit distributed patterns, and automated runtime validation.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D8E4A-AE42-40F8-950C-152E2A7A2788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10668000" cy="9525"/>
          </a:xfrm>
          <a:prstGeom prst="rect">
            <a:avLst/>
          </a:prstGeom>
          <a:solidFill>
            <a:srgbClr val="F7F7F7"/>
          </a:solidFill>
          <a:ln w="9525">
            <a:solidFill>
              <a:srgbClr val="F7F7F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B6BF1-9202-40A8-A0BD-58B80797D0FB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buNone/>
              <a:defRPr sz="172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D8D8D8"/>
                </a:solidFill>
                <a:latin typeface="Helvetica Neue"/>
                <a:ea typeface="Helvetica Neue"/>
                <a:cs typeface="Helvetica Neue"/>
              </a:rPr>
              <a:t>The result is a teachable MSA implementation with clear boundaries, reproducible Compose startup, and evidence from API and security validation.</a:t>
            </a:r>
          </a:p>
        </p:txBody>
      </p:sp>
    </p:spTree>
    <p:extLst>
      <p:ext uri="{BB962C8B-B14F-4D97-AF65-F5344CB8AC3E}">
        <p14:creationId xmlns:p14="http://schemas.microsoft.com/office/powerpoint/2010/main" val="6059199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1969</Words>
  <Application>Microsoft Macintosh PowerPoint</Application>
  <DocSecurity>0</DocSecurity>
  <PresentationFormat>Widescreen</PresentationFormat>
  <Paragraphs>259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Bismark Assah</cp:lastModifiedBy>
  <cp:revision>1</cp:revision>
  <dcterms:created xsi:type="dcterms:W3CDTF">2026-09-10T17:22:15Z</dcterms:created>
  <dcterms:modified xsi:type="dcterms:W3CDTF">2026-09-10T18:37:17Z</dcterms:modified>
</cp:coreProperties>
</file>